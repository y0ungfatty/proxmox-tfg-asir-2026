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7"/>
    <p:sldId id="277" r:id="rId28"/>
    <p:sldId id="278" r:id="rId29"/>
    <p:sldId id="279" r:id="rId30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05A00"/>
          </a:solidFill>
          <a:ln w="12700">
            <a:solidFill>
              <a:srgbClr val="E05A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502920"/>
            <a:ext cx="5303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E05A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PROXMOX VE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365760" y="1417320"/>
            <a:ext cx="5303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Implementación de un Sistema de Virtualización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2194560"/>
            <a:ext cx="5029200" cy="22860"/>
          </a:xfrm>
          <a:prstGeom prst="rect">
            <a:avLst/>
          </a:prstGeom>
          <a:solidFill>
            <a:srgbClr val="A0B4C8"/>
          </a:solidFill>
          <a:ln w="12700">
            <a:solidFill>
              <a:srgbClr val="A0B4C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23317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Trabajo de Fin de Ciclo · ASIR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65760" y="292608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Autores: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554480" y="292608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Santiago Gómez Vacas / Matias Florenttini Gómez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331012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Tutora: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554480" y="3310128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Ainara Gómez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3694176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Centro: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554480" y="3694176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FP LUMARA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5760" y="4078224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Curso: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554480" y="4078224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 / 2026</a:t>
            </a:r>
            <a:endParaRPr lang="en-US" sz="13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49240" y="1054007"/>
            <a:ext cx="3657600" cy="3035486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5312664" y="1017431"/>
            <a:ext cx="3730752" cy="3108638"/>
          </a:xfrm>
          <a:prstGeom prst="rect">
            <a:avLst/>
          </a:prstGeom>
          <a:solidFill>
            <a:srgbClr val="000000">
              <a:alpha val="0"/>
            </a:srgbClr>
          </a:solidFill>
          <a:ln w="19050">
            <a:solidFill>
              <a:srgbClr val="E05A00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2E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E05A00"/>
          </a:solidFill>
          <a:ln w="12700">
            <a:solidFill>
              <a:srgbClr val="E05A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Índice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502920" cy="594360"/>
          </a:xfrm>
          <a:prstGeom prst="rect">
            <a:avLst/>
          </a:prstGeom>
          <a:solidFill>
            <a:srgbClr val="E05A00"/>
          </a:solidFill>
          <a:ln w="12700">
            <a:solidFill>
              <a:srgbClr val="E05A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05840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05840" y="10515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 y motivación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1965960"/>
            <a:ext cx="502920" cy="594360"/>
          </a:xfrm>
          <a:prstGeom prst="rect">
            <a:avLst/>
          </a:prstGeom>
          <a:solidFill>
            <a:srgbClr val="E05A00"/>
          </a:solidFill>
          <a:ln w="12700">
            <a:solidFill>
              <a:srgbClr val="E05A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965960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" y="20116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Objetivos del proyecto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65760" y="2926080"/>
            <a:ext cx="502920" cy="594360"/>
          </a:xfrm>
          <a:prstGeom prst="rect">
            <a:avLst/>
          </a:prstGeom>
          <a:solidFill>
            <a:srgbClr val="E05A00"/>
          </a:solidFill>
          <a:ln w="12700">
            <a:solidFill>
              <a:srgbClr val="E05A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926080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005840" y="29718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Diseño técnico y arquitectura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65760" y="3886200"/>
            <a:ext cx="502920" cy="594360"/>
          </a:xfrm>
          <a:prstGeom prst="rect">
            <a:avLst/>
          </a:prstGeom>
          <a:solidFill>
            <a:srgbClr val="E05A00"/>
          </a:solidFill>
          <a:ln w="12700">
            <a:solidFill>
              <a:srgbClr val="E05A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3886200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005840" y="39319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Implementación paso a paso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937760" y="1005840"/>
            <a:ext cx="502920" cy="594360"/>
          </a:xfrm>
          <a:prstGeom prst="rect">
            <a:avLst/>
          </a:prstGeom>
          <a:solidFill>
            <a:srgbClr val="1E3A52"/>
          </a:solidFill>
          <a:ln w="12700">
            <a:solidFill>
              <a:srgbClr val="E05A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0" y="1005840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05A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5577840" y="105156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Incidencias y soluciones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937760" y="1965960"/>
            <a:ext cx="502920" cy="594360"/>
          </a:xfrm>
          <a:prstGeom prst="rect">
            <a:avLst/>
          </a:prstGeom>
          <a:solidFill>
            <a:srgbClr val="1E3A52"/>
          </a:solidFill>
          <a:ln w="12700">
            <a:solidFill>
              <a:srgbClr val="E05A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0" y="1965960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05A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5577840" y="201168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Pruebas y resultados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4937760" y="2926080"/>
            <a:ext cx="502920" cy="594360"/>
          </a:xfrm>
          <a:prstGeom prst="rect">
            <a:avLst/>
          </a:prstGeom>
          <a:solidFill>
            <a:srgbClr val="1E3A52"/>
          </a:solidFill>
          <a:ln w="12700">
            <a:solidFill>
              <a:srgbClr val="E05A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37760" y="2926080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05A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5577840" y="297180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Conclusiones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05A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 · Introducción y Motivación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4206240" cy="38404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7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¿Por qué Proxmox VE?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Proxmox VE es el hipervisor open-source que se usa en empresas reales: gratuito, potente y con interfaz web completa. Es lo que un sysadmin va a encontrar en su primer trabajo.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7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¿Por qué VirtualBox?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servidor físico disponible en el laboratorio, Proxmox corre dentro de VirtualBox — una limitación real que también forma parte del aprendizaje.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937760" y="914400"/>
            <a:ext cx="3840480" cy="1828800"/>
          </a:xfrm>
          <a:prstGeom prst="rect">
            <a:avLst/>
          </a:prstGeom>
          <a:solidFill>
            <a:srgbClr val="1E3A52"/>
          </a:solidFill>
          <a:ln w="19050">
            <a:solidFill>
              <a:srgbClr val="E05A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937760" y="914400"/>
            <a:ext cx="914400" cy="1828800"/>
          </a:xfrm>
          <a:prstGeom prst="rect">
            <a:avLst/>
          </a:prstGeom>
          <a:solidFill>
            <a:srgbClr val="E05A00"/>
          </a:solidFill>
          <a:ln w="12700">
            <a:solidFill>
              <a:srgbClr val="E05A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0" y="914400"/>
            <a:ext cx="914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KVM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943600" y="1005840"/>
            <a:ext cx="2743200" cy="1645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Máquinas virtuales completas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Aislamiento de hardware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Soporta cualquier SO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937760" y="2971800"/>
            <a:ext cx="3840480" cy="1828800"/>
          </a:xfrm>
          <a:prstGeom prst="rect">
            <a:avLst/>
          </a:prstGeom>
          <a:solidFill>
            <a:srgbClr val="1E3A52"/>
          </a:solidFill>
          <a:ln w="19050">
            <a:solidFill>
              <a:srgbClr val="E05A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937760" y="2971800"/>
            <a:ext cx="914400" cy="1828800"/>
          </a:xfrm>
          <a:prstGeom prst="rect">
            <a:avLst/>
          </a:prstGeom>
          <a:solidFill>
            <a:srgbClr val="E05A00"/>
          </a:solidFill>
          <a:ln w="12700">
            <a:solidFill>
              <a:srgbClr val="E05A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2971800"/>
            <a:ext cx="914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LXC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943600" y="3063240"/>
            <a:ext cx="2743200" cy="1645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Contenedores ligeros del kernel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Menos overhead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Perfecto para servicios Linux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937760" y="4983480"/>
            <a:ext cx="3840480" cy="164592"/>
          </a:xfrm>
          <a:prstGeom prst="rect">
            <a:avLst/>
          </a:prstGeom>
          <a:solidFill>
            <a:srgbClr val="E05A00"/>
          </a:solidFill>
          <a:ln w="12700">
            <a:solidFill>
              <a:srgbClr val="E05A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498348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Proxmox VE 9.1 · FP LUMARA 2026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2E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E05A00"/>
          </a:solidFill>
          <a:ln w="12700">
            <a:solidFill>
              <a:srgbClr val="E05A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 · Objetivos del Proyecto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4114800" cy="822960"/>
          </a:xfrm>
          <a:prstGeom prst="rect">
            <a:avLst/>
          </a:prstGeom>
          <a:solidFill>
            <a:srgbClr val="1E3A52"/>
          </a:solidFill>
          <a:ln w="6350">
            <a:solidFill>
              <a:srgbClr val="6B849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60120"/>
            <a:ext cx="457200" cy="822960"/>
          </a:xfrm>
          <a:prstGeom prst="rect">
            <a:avLst/>
          </a:prstGeom>
          <a:solidFill>
            <a:srgbClr val="E05A00"/>
          </a:solidFill>
          <a:ln w="12700">
            <a:solidFill>
              <a:srgbClr val="E05A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960120"/>
            <a:ext cx="45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1005840"/>
            <a:ext cx="34290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Instalar Proxmox VE 9.1 en VirtualBox (Debian 64-bit)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1965960"/>
            <a:ext cx="4114800" cy="822960"/>
          </a:xfrm>
          <a:prstGeom prst="rect">
            <a:avLst/>
          </a:prstGeom>
          <a:solidFill>
            <a:srgbClr val="1E3A52"/>
          </a:solidFill>
          <a:ln w="6350">
            <a:solidFill>
              <a:srgbClr val="6B849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965960"/>
            <a:ext cx="457200" cy="822960"/>
          </a:xfrm>
          <a:prstGeom prst="rect">
            <a:avLst/>
          </a:prstGeom>
          <a:solidFill>
            <a:srgbClr val="E05A00"/>
          </a:solidFill>
          <a:ln w="12700">
            <a:solidFill>
              <a:srgbClr val="E05A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965960"/>
            <a:ext cx="45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68680" y="2011680"/>
            <a:ext cx="34290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Configurar red con IP estática, hostname y DNS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0040" y="2971800"/>
            <a:ext cx="4114800" cy="822960"/>
          </a:xfrm>
          <a:prstGeom prst="rect">
            <a:avLst/>
          </a:prstGeom>
          <a:solidFill>
            <a:srgbClr val="1E3A52"/>
          </a:solidFill>
          <a:ln w="6350">
            <a:solidFill>
              <a:srgbClr val="6B849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2971800"/>
            <a:ext cx="457200" cy="822960"/>
          </a:xfrm>
          <a:prstGeom prst="rect">
            <a:avLst/>
          </a:prstGeom>
          <a:solidFill>
            <a:srgbClr val="E05A00"/>
          </a:solidFill>
          <a:ln w="12700">
            <a:solidFill>
              <a:srgbClr val="E05A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2971800"/>
            <a:ext cx="45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68680" y="3017520"/>
            <a:ext cx="34290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Acceder a la interfaz web y gestionar el nodo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20040" y="3977640"/>
            <a:ext cx="4114800" cy="822960"/>
          </a:xfrm>
          <a:prstGeom prst="rect">
            <a:avLst/>
          </a:prstGeom>
          <a:solidFill>
            <a:srgbClr val="1E3A52"/>
          </a:solidFill>
          <a:ln w="6350">
            <a:solidFill>
              <a:srgbClr val="6B849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3977640"/>
            <a:ext cx="457200" cy="822960"/>
          </a:xfrm>
          <a:prstGeom prst="rect">
            <a:avLst/>
          </a:prstGeom>
          <a:solidFill>
            <a:srgbClr val="E05A00"/>
          </a:solidFill>
          <a:ln w="12700">
            <a:solidFill>
              <a:srgbClr val="E05A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3977640"/>
            <a:ext cx="45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68680" y="4023360"/>
            <a:ext cx="34290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Subir ISO Ubuntu Server 24.04.3 LTS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754880" y="960120"/>
            <a:ext cx="4114800" cy="822960"/>
          </a:xfrm>
          <a:prstGeom prst="rect">
            <a:avLst/>
          </a:prstGeom>
          <a:solidFill>
            <a:srgbClr val="1E3A52"/>
          </a:solidFill>
          <a:ln w="6350">
            <a:solidFill>
              <a:srgbClr val="6B849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54880" y="960120"/>
            <a:ext cx="457200" cy="822960"/>
          </a:xfrm>
          <a:prstGeom prst="rect">
            <a:avLst/>
          </a:prstGeom>
          <a:solidFill>
            <a:srgbClr val="E05A00"/>
          </a:solidFill>
          <a:ln w="12700">
            <a:solidFill>
              <a:srgbClr val="E05A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960120"/>
            <a:ext cx="45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303520" y="1005840"/>
            <a:ext cx="34290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Crear VM (ID 100): 2 cores, 2 GB RAM, 32 GiB disco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754880" y="1965960"/>
            <a:ext cx="4114800" cy="822960"/>
          </a:xfrm>
          <a:prstGeom prst="rect">
            <a:avLst/>
          </a:prstGeom>
          <a:solidFill>
            <a:srgbClr val="1E3A52"/>
          </a:solidFill>
          <a:ln w="6350">
            <a:solidFill>
              <a:srgbClr val="6B849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54880" y="1965960"/>
            <a:ext cx="457200" cy="822960"/>
          </a:xfrm>
          <a:prstGeom prst="rect">
            <a:avLst/>
          </a:prstGeom>
          <a:solidFill>
            <a:srgbClr val="E05A00"/>
          </a:solidFill>
          <a:ln w="12700">
            <a:solidFill>
              <a:srgbClr val="E05A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1965960"/>
            <a:ext cx="45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303520" y="2011680"/>
            <a:ext cx="34290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Instalar Ubuntu Server con cloud-init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754880" y="2971800"/>
            <a:ext cx="4114800" cy="822960"/>
          </a:xfrm>
          <a:prstGeom prst="rect">
            <a:avLst/>
          </a:prstGeom>
          <a:solidFill>
            <a:srgbClr val="1E3A52"/>
          </a:solidFill>
          <a:ln w="6350">
            <a:solidFill>
              <a:srgbClr val="6B849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54880" y="2971800"/>
            <a:ext cx="457200" cy="822960"/>
          </a:xfrm>
          <a:prstGeom prst="rect">
            <a:avLst/>
          </a:prstGeom>
          <a:solidFill>
            <a:srgbClr val="E05A00"/>
          </a:solidFill>
          <a:ln w="12700">
            <a:solidFill>
              <a:srgbClr val="E05A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0" y="2971800"/>
            <a:ext cx="45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303520" y="3017520"/>
            <a:ext cx="34290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Verificar VM operativa: login y estado del sistema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754880" y="4114800"/>
            <a:ext cx="4114800" cy="822960"/>
          </a:xfrm>
          <a:prstGeom prst="rect">
            <a:avLst/>
          </a:prstGeom>
          <a:solidFill>
            <a:srgbClr val="E05A00"/>
          </a:solidFill>
          <a:ln w="12700">
            <a:solidFill>
              <a:srgbClr val="E05A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0" y="411480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100% de objetivos alcanzados ✓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2E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E05A00"/>
          </a:solidFill>
          <a:ln w="12700">
            <a:solidFill>
              <a:srgbClr val="E05A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 · Planificación del Proyecto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4160520" cy="841248"/>
          </a:xfrm>
          <a:prstGeom prst="rect">
            <a:avLst/>
          </a:prstGeom>
          <a:solidFill>
            <a:srgbClr val="1E3A52"/>
          </a:solidFill>
          <a:ln w="6350">
            <a:solidFill>
              <a:srgbClr val="6B849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14400"/>
            <a:ext cx="91440" cy="841248"/>
          </a:xfrm>
          <a:prstGeom prst="rect">
            <a:avLst/>
          </a:prstGeom>
          <a:solidFill>
            <a:srgbClr val="6B8499"/>
          </a:solidFill>
          <a:ln w="12700">
            <a:solidFill>
              <a:srgbClr val="6B84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12064" y="950976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 – Nov 2025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12064" y="1298448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Análisis y elección del tema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1901952"/>
            <a:ext cx="4160520" cy="841248"/>
          </a:xfrm>
          <a:prstGeom prst="rect">
            <a:avLst/>
          </a:prstGeom>
          <a:solidFill>
            <a:srgbClr val="1E3A52"/>
          </a:solidFill>
          <a:ln w="6350">
            <a:solidFill>
              <a:srgbClr val="6B849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901952"/>
            <a:ext cx="91440" cy="841248"/>
          </a:xfrm>
          <a:prstGeom prst="rect">
            <a:avLst/>
          </a:prstGeom>
          <a:solidFill>
            <a:srgbClr val="6B8499"/>
          </a:solidFill>
          <a:ln w="12700">
            <a:solidFill>
              <a:srgbClr val="6B84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2064" y="1938528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 – Dic 2025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12064" y="2286000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Diseño técnico y arquitectura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0040" y="2889504"/>
            <a:ext cx="4160520" cy="841248"/>
          </a:xfrm>
          <a:prstGeom prst="rect">
            <a:avLst/>
          </a:prstGeom>
          <a:solidFill>
            <a:srgbClr val="1E3A52"/>
          </a:solidFill>
          <a:ln w="6350">
            <a:solidFill>
              <a:srgbClr val="6B849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2889504"/>
            <a:ext cx="91440" cy="841248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2064" y="2926080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Dic 2025 – Ene 2026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12064" y="3273552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Entorno base (VirtualBox + ISOs)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20040" y="3877056"/>
            <a:ext cx="4160520" cy="841248"/>
          </a:xfrm>
          <a:prstGeom prst="rect">
            <a:avLst/>
          </a:prstGeom>
          <a:solidFill>
            <a:srgbClr val="1E3A52"/>
          </a:solidFill>
          <a:ln w="6350">
            <a:solidFill>
              <a:srgbClr val="6B849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3877056"/>
            <a:ext cx="91440" cy="841248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2064" y="39136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 – Feb 2026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12064" y="4261104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Instalación Proxmox VE 9.1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754880" y="914400"/>
            <a:ext cx="4069080" cy="841248"/>
          </a:xfrm>
          <a:prstGeom prst="rect">
            <a:avLst/>
          </a:prstGeom>
          <a:solidFill>
            <a:srgbClr val="1E3A52"/>
          </a:solidFill>
          <a:ln w="6350">
            <a:solidFill>
              <a:srgbClr val="6B849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54880" y="914400"/>
            <a:ext cx="91440" cy="841248"/>
          </a:xfrm>
          <a:prstGeom prst="rect">
            <a:avLst/>
          </a:prstGeom>
          <a:solidFill>
            <a:srgbClr val="E05A00"/>
          </a:solidFill>
          <a:ln w="12700">
            <a:solidFill>
              <a:srgbClr val="E05A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950976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Feb – Mar 2026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37760" y="1298448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VM Ubuntu + cloud-init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754880" y="1901952"/>
            <a:ext cx="4069080" cy="841248"/>
          </a:xfrm>
          <a:prstGeom prst="rect">
            <a:avLst/>
          </a:prstGeom>
          <a:solidFill>
            <a:srgbClr val="1E3A52"/>
          </a:solidFill>
          <a:ln w="6350">
            <a:solidFill>
              <a:srgbClr val="6B849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54880" y="1901952"/>
            <a:ext cx="91440" cy="841248"/>
          </a:xfrm>
          <a:prstGeom prst="rect">
            <a:avLst/>
          </a:prstGeom>
          <a:solidFill>
            <a:srgbClr val="E05A00"/>
          </a:solidFill>
          <a:ln w="12700">
            <a:solidFill>
              <a:srgbClr val="E05A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7760" y="1938528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 – Abr 2026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937760" y="2286000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Pruebas e incidencias reales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754880" y="2889504"/>
            <a:ext cx="4069080" cy="841248"/>
          </a:xfrm>
          <a:prstGeom prst="rect">
            <a:avLst/>
          </a:prstGeom>
          <a:solidFill>
            <a:srgbClr val="1E3A52"/>
          </a:solidFill>
          <a:ln w="6350">
            <a:solidFill>
              <a:srgbClr val="6B849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54880" y="2889504"/>
            <a:ext cx="91440" cy="84124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37760" y="2926080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 – May 2026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937760" y="3273552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Documentación y memoria técnica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754880" y="3877056"/>
            <a:ext cx="4069080" cy="841248"/>
          </a:xfrm>
          <a:prstGeom prst="rect">
            <a:avLst/>
          </a:prstGeom>
          <a:solidFill>
            <a:srgbClr val="1E3A52"/>
          </a:solidFill>
          <a:ln w="6350">
            <a:solidFill>
              <a:srgbClr val="6B849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0" y="3877056"/>
            <a:ext cx="91440" cy="84124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37760" y="3913632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Junio 2026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937760" y="4261104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Defensa oral ante el tribunal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7818120" y="4059936"/>
            <a:ext cx="868680" cy="420624"/>
          </a:xfrm>
          <a:prstGeom prst="rect">
            <a:avLst/>
          </a:prstGeom>
          <a:solidFill>
            <a:srgbClr val="E05A00"/>
          </a:solidFill>
          <a:ln w="12700">
            <a:solidFill>
              <a:srgbClr val="E05A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818120" y="4059936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← hoy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20040" y="4873752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Mayor desvío: INC-02 (error KVM) retrasó ~1 semana el margen de documentación.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05A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 · Diseño Técnico y Arquitectura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5029200" cy="822960"/>
          </a:xfrm>
          <a:prstGeom prst="rect">
            <a:avLst/>
          </a:prstGeom>
          <a:solidFill>
            <a:srgbClr val="1E3A52"/>
          </a:solidFill>
          <a:ln w="25400">
            <a:solidFill>
              <a:srgbClr val="2ECC7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941832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VM Ubuntu Server 24.04.3 LTS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1316736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 100 · 2 cores · 2 GB RAM · 32 GiB SCSI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901952"/>
            <a:ext cx="5029200" cy="822960"/>
          </a:xfrm>
          <a:prstGeom prst="rect">
            <a:avLst/>
          </a:prstGeom>
          <a:solidFill>
            <a:srgbClr val="153045"/>
          </a:solidFill>
          <a:ln w="25400">
            <a:solidFill>
              <a:srgbClr val="E05A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929384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Proxmox VE 9.1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02920" y="2304288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KVM + LXC · Web UI https://10.10.102.206:8006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889504"/>
            <a:ext cx="5029200" cy="822960"/>
          </a:xfrm>
          <a:prstGeom prst="rect">
            <a:avLst/>
          </a:prstGeom>
          <a:solidFill>
            <a:srgbClr val="0D1B2A"/>
          </a:solidFill>
          <a:ln w="25400">
            <a:solidFill>
              <a:srgbClr val="A0B4C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916936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VirtualBox (Debian 64-bit)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02920" y="329184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GB RAM · 60 GB VDI · Bridge Adapter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877056"/>
            <a:ext cx="5029200" cy="822960"/>
          </a:xfrm>
          <a:prstGeom prst="rect">
            <a:avLst/>
          </a:prstGeom>
          <a:solidFill>
            <a:srgbClr val="060D14"/>
          </a:solidFill>
          <a:ln w="25400">
            <a:solidFill>
              <a:srgbClr val="6B849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904488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Host Físico (Windows)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02920" y="4279392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Equipo de laboratorio · FP LUMARA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463040" y="1892808"/>
            <a:ext cx="54864" cy="91440"/>
          </a:xfrm>
          <a:prstGeom prst="rect">
            <a:avLst/>
          </a:prstGeom>
          <a:solidFill>
            <a:srgbClr val="E05A00"/>
          </a:solidFill>
          <a:ln w="12700">
            <a:solidFill>
              <a:srgbClr val="E05A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63040" y="2880360"/>
            <a:ext cx="54864" cy="91440"/>
          </a:xfrm>
          <a:prstGeom prst="rect">
            <a:avLst/>
          </a:prstGeom>
          <a:solidFill>
            <a:srgbClr val="E05A00"/>
          </a:solidFill>
          <a:ln w="12700">
            <a:solidFill>
              <a:srgbClr val="E05A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463040" y="3867912"/>
            <a:ext cx="54864" cy="91440"/>
          </a:xfrm>
          <a:prstGeom prst="rect">
            <a:avLst/>
          </a:prstGeom>
          <a:solidFill>
            <a:srgbClr val="E05A00"/>
          </a:solidFill>
          <a:ln w="12700">
            <a:solidFill>
              <a:srgbClr val="E05A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760720" y="914400"/>
            <a:ext cx="3063240" cy="4114800"/>
          </a:xfrm>
          <a:prstGeom prst="rect">
            <a:avLst/>
          </a:prstGeom>
          <a:solidFill>
            <a:srgbClr val="1E3A52"/>
          </a:solidFill>
          <a:ln w="6350">
            <a:solidFill>
              <a:srgbClr val="6B849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760720" y="91440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05A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Especificaciones VM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760720" y="1325880"/>
            <a:ext cx="3063240" cy="338328"/>
          </a:xfrm>
          <a:prstGeom prst="rect">
            <a:avLst/>
          </a:prstGeom>
          <a:solidFill>
            <a:srgbClr val="1E3A52"/>
          </a:solidFill>
          <a:ln w="3810">
            <a:solidFill>
              <a:srgbClr val="6B849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06440" y="1344168"/>
            <a:ext cx="1188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VM ID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995160" y="1344168"/>
            <a:ext cx="1737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760720" y="1664208"/>
            <a:ext cx="3063240" cy="338328"/>
          </a:xfrm>
          <a:prstGeom prst="rect">
            <a:avLst/>
          </a:prstGeom>
          <a:solidFill>
            <a:srgbClr val="0D1B2A"/>
          </a:solidFill>
          <a:ln w="3810">
            <a:solidFill>
              <a:srgbClr val="6B849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06440" y="1682496"/>
            <a:ext cx="1188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995160" y="1682496"/>
            <a:ext cx="1737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cores QEMU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760720" y="2002536"/>
            <a:ext cx="3063240" cy="338328"/>
          </a:xfrm>
          <a:prstGeom prst="rect">
            <a:avLst/>
          </a:prstGeom>
          <a:solidFill>
            <a:srgbClr val="1E3A52"/>
          </a:solidFill>
          <a:ln w="3810">
            <a:solidFill>
              <a:srgbClr val="6B849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06440" y="2020824"/>
            <a:ext cx="1188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RAM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995160" y="2020824"/>
            <a:ext cx="1737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2048 MB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760720" y="2340864"/>
            <a:ext cx="3063240" cy="338328"/>
          </a:xfrm>
          <a:prstGeom prst="rect">
            <a:avLst/>
          </a:prstGeom>
          <a:solidFill>
            <a:srgbClr val="0D1B2A"/>
          </a:solidFill>
          <a:ln w="3810">
            <a:solidFill>
              <a:srgbClr val="6B849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806440" y="2359152"/>
            <a:ext cx="1188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995160" y="2359152"/>
            <a:ext cx="1737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 GiB SCSI VirtIO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760720" y="2679192"/>
            <a:ext cx="3063240" cy="338328"/>
          </a:xfrm>
          <a:prstGeom prst="rect">
            <a:avLst/>
          </a:prstGeom>
          <a:solidFill>
            <a:srgbClr val="1E3A52"/>
          </a:solidFill>
          <a:ln w="3810">
            <a:solidFill>
              <a:srgbClr val="6B849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06440" y="2697480"/>
            <a:ext cx="1188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995160" y="2697480"/>
            <a:ext cx="1737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virtio · vmbr0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760720" y="3017520"/>
            <a:ext cx="3063240" cy="338328"/>
          </a:xfrm>
          <a:prstGeom prst="rect">
            <a:avLst/>
          </a:prstGeom>
          <a:solidFill>
            <a:srgbClr val="0D1B2A"/>
          </a:solidFill>
          <a:ln w="3810">
            <a:solidFill>
              <a:srgbClr val="6B849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806440" y="3035808"/>
            <a:ext cx="1188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 nodo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995160" y="3035808"/>
            <a:ext cx="1737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10.10.102.206/16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760720" y="3355848"/>
            <a:ext cx="3063240" cy="338328"/>
          </a:xfrm>
          <a:prstGeom prst="rect">
            <a:avLst/>
          </a:prstGeom>
          <a:solidFill>
            <a:srgbClr val="1E3A52"/>
          </a:solidFill>
          <a:ln w="3810">
            <a:solidFill>
              <a:srgbClr val="6B849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806440" y="3374136"/>
            <a:ext cx="1188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995160" y="3374136"/>
            <a:ext cx="1737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Ubuntu 24.04.3 LTS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760720" y="3694176"/>
            <a:ext cx="3063240" cy="338328"/>
          </a:xfrm>
          <a:prstGeom prst="rect">
            <a:avLst/>
          </a:prstGeom>
          <a:solidFill>
            <a:srgbClr val="0D1B2A"/>
          </a:solidFill>
          <a:ln w="3810">
            <a:solidFill>
              <a:srgbClr val="6B849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806440" y="3712464"/>
            <a:ext cx="1188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Kernel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995160" y="3712464"/>
            <a:ext cx="1737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6.8.0-71-generic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E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E05A00"/>
          </a:solidFill>
          <a:ln w="12700">
            <a:solidFill>
              <a:srgbClr val="E05A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 · Implementación · Fase 1: Preparar VirtualBox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65176" y="813816"/>
            <a:ext cx="2761488" cy="2670048"/>
          </a:xfrm>
          <a:prstGeom prst="rect">
            <a:avLst/>
          </a:prstGeom>
          <a:solidFill>
            <a:srgbClr val="0D1B2A"/>
          </a:solidFill>
          <a:ln w="12700">
            <a:solidFill>
              <a:srgbClr val="E05A0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868680"/>
            <a:ext cx="2651760" cy="2560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20040" y="34747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Fig. 1 · VM: Proxmoxx – Debian 64-bit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3145536" y="813816"/>
            <a:ext cx="2761488" cy="2670048"/>
          </a:xfrm>
          <a:prstGeom prst="rect">
            <a:avLst/>
          </a:prstGeom>
          <a:solidFill>
            <a:srgbClr val="0D1B2A"/>
          </a:solidFill>
          <a:ln w="12700">
            <a:solidFill>
              <a:srgbClr val="E05A00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200400" y="868680"/>
            <a:ext cx="2651760" cy="2560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200400" y="34747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Fig. 2 · 4096 MB RAM · 1 CPU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6025896" y="813816"/>
            <a:ext cx="2761488" cy="2670048"/>
          </a:xfrm>
          <a:prstGeom prst="rect">
            <a:avLst/>
          </a:prstGeom>
          <a:solidFill>
            <a:srgbClr val="0D1B2A"/>
          </a:solidFill>
          <a:ln w="12700">
            <a:solidFill>
              <a:srgbClr val="E05A00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080760" y="868680"/>
            <a:ext cx="2651760" cy="256032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080760" y="34747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Fig. 3 · Disco VDI 60 GB</a:t>
            </a:r>
            <a:endParaRPr lang="en-US" sz="1000" dirty="0"/>
          </a:p>
        </p:txBody>
      </p:sp>
      <p:sp>
        <p:nvSpPr>
          <p:cNvPr id="13" name="Shape 8"/>
          <p:cNvSpPr/>
          <p:nvPr/>
        </p:nvSpPr>
        <p:spPr>
          <a:xfrm>
            <a:off x="320040" y="3840480"/>
            <a:ext cx="8503920" cy="1051560"/>
          </a:xfrm>
          <a:prstGeom prst="rect">
            <a:avLst/>
          </a:prstGeom>
          <a:solidFill>
            <a:srgbClr val="1E3A52"/>
          </a:solidFill>
          <a:ln w="12700">
            <a:solidFill>
              <a:srgbClr val="E05A00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320040" y="3840480"/>
            <a:ext cx="109728" cy="1051560"/>
          </a:xfrm>
          <a:prstGeom prst="rect">
            <a:avLst/>
          </a:prstGeom>
          <a:solidFill>
            <a:srgbClr val="E05A00"/>
          </a:solidFill>
          <a:ln w="12700">
            <a:solidFill>
              <a:srgbClr val="E05A00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548640" y="3840480"/>
            <a:ext cx="8229600" cy="105156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7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 Clave: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en modo Adaptador Puente — sin esto, la interfaz web de Proxmox no es accesible desde el equipo anfitrión. Con NAT la VM queda aislada.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05A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 · Implementación · Fase 2: Instalar Proxmox VE 9.1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4133088" cy="3950208"/>
          </a:xfrm>
          <a:prstGeom prst="rect">
            <a:avLst/>
          </a:prstGeom>
          <a:solidFill>
            <a:srgbClr val="0D1B2A"/>
          </a:solidFill>
          <a:ln w="19050">
            <a:solidFill>
              <a:srgbClr val="E05A0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9184" y="923544"/>
            <a:ext cx="4023360" cy="3840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617720" y="9144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7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Pasos del instalador: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617720" y="1371600"/>
            <a:ext cx="4206240" cy="493776"/>
          </a:xfrm>
          <a:prstGeom prst="rect">
            <a:avLst/>
          </a:prstGeom>
          <a:solidFill>
            <a:srgbClr val="1E3A52"/>
          </a:solidFill>
          <a:ln w="6350">
            <a:solidFill>
              <a:srgbClr val="6B8499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617720" y="1371600"/>
            <a:ext cx="73152" cy="493776"/>
          </a:xfrm>
          <a:prstGeom prst="rect">
            <a:avLst/>
          </a:prstGeom>
          <a:solidFill>
            <a:srgbClr val="E05A00"/>
          </a:solidFill>
          <a:ln w="12700">
            <a:solidFill>
              <a:srgbClr val="E05A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773168" y="1371600"/>
            <a:ext cx="3977640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Disco: /dev/sda (60 GiB VBOX HARDDISK)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617720" y="1938528"/>
            <a:ext cx="4206240" cy="493776"/>
          </a:xfrm>
          <a:prstGeom prst="rect">
            <a:avLst/>
          </a:prstGeom>
          <a:solidFill>
            <a:srgbClr val="1E3A52"/>
          </a:solidFill>
          <a:ln w="6350">
            <a:solidFill>
              <a:srgbClr val="6B8499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617720" y="1938528"/>
            <a:ext cx="73152" cy="493776"/>
          </a:xfrm>
          <a:prstGeom prst="rect">
            <a:avLst/>
          </a:prstGeom>
          <a:solidFill>
            <a:srgbClr val="E05A00"/>
          </a:solidFill>
          <a:ln w="12700">
            <a:solidFill>
              <a:srgbClr val="E05A0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773168" y="1938528"/>
            <a:ext cx="3977640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País: Spain / Europe/Madrid / Español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617720" y="2505456"/>
            <a:ext cx="4206240" cy="493776"/>
          </a:xfrm>
          <a:prstGeom prst="rect">
            <a:avLst/>
          </a:prstGeom>
          <a:solidFill>
            <a:srgbClr val="1E3A52"/>
          </a:solidFill>
          <a:ln w="6350">
            <a:solidFill>
              <a:srgbClr val="6B8499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617720" y="2505456"/>
            <a:ext cx="73152" cy="493776"/>
          </a:xfrm>
          <a:prstGeom prst="rect">
            <a:avLst/>
          </a:prstGeom>
          <a:solidFill>
            <a:srgbClr val="E05A00"/>
          </a:solidFill>
          <a:ln w="12700">
            <a:solidFill>
              <a:srgbClr val="E05A0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773168" y="2505456"/>
            <a:ext cx="3977640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Contraseña root + email alertas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617720" y="3072384"/>
            <a:ext cx="4206240" cy="493776"/>
          </a:xfrm>
          <a:prstGeom prst="rect">
            <a:avLst/>
          </a:prstGeom>
          <a:solidFill>
            <a:srgbClr val="1E3A52"/>
          </a:solidFill>
          <a:ln w="6350">
            <a:solidFill>
              <a:srgbClr val="6B8499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617720" y="3072384"/>
            <a:ext cx="73152" cy="493776"/>
          </a:xfrm>
          <a:prstGeom prst="rect">
            <a:avLst/>
          </a:prstGeom>
          <a:solidFill>
            <a:srgbClr val="E05A00"/>
          </a:solidFill>
          <a:ln w="12700">
            <a:solidFill>
              <a:srgbClr val="E05A0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773168" y="3072384"/>
            <a:ext cx="3977640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IP: 10.10.102.206/16  GW: 10.10.0.1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4617720" y="3639312"/>
            <a:ext cx="4206240" cy="493776"/>
          </a:xfrm>
          <a:prstGeom prst="rect">
            <a:avLst/>
          </a:prstGeom>
          <a:solidFill>
            <a:srgbClr val="1E3A52"/>
          </a:solidFill>
          <a:ln w="6350">
            <a:solidFill>
              <a:srgbClr val="6B8499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617720" y="3639312"/>
            <a:ext cx="73152" cy="493776"/>
          </a:xfrm>
          <a:prstGeom prst="rect">
            <a:avLst/>
          </a:prstGeom>
          <a:solidFill>
            <a:srgbClr val="E05A00"/>
          </a:solidFill>
          <a:ln w="12700">
            <a:solidFill>
              <a:srgbClr val="E05A0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773168" y="3639312"/>
            <a:ext cx="3977640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Hostname: pve.summa.local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4617720" y="4206240"/>
            <a:ext cx="4206240" cy="493776"/>
          </a:xfrm>
          <a:prstGeom prst="rect">
            <a:avLst/>
          </a:prstGeom>
          <a:solidFill>
            <a:srgbClr val="1E3A52"/>
          </a:solidFill>
          <a:ln w="6350">
            <a:solidFill>
              <a:srgbClr val="6B8499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617720" y="4206240"/>
            <a:ext cx="73152" cy="493776"/>
          </a:xfrm>
          <a:prstGeom prst="rect">
            <a:avLst/>
          </a:prstGeom>
          <a:solidFill>
            <a:srgbClr val="E05A00"/>
          </a:solidFill>
          <a:ln w="12700">
            <a:solidFill>
              <a:srgbClr val="E05A0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773168" y="4206240"/>
            <a:ext cx="3977640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Confirmar → instalar → reiniciar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2E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E05A00"/>
          </a:solidFill>
          <a:ln w="12700">
            <a:solidFill>
              <a:srgbClr val="E05A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Instalación Proxmox VE – Capturas del proceso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228600" y="731520"/>
            <a:ext cx="2834640" cy="1920240"/>
          </a:xfrm>
          <a:prstGeom prst="rect">
            <a:avLst/>
          </a:prstGeom>
          <a:solidFill>
            <a:srgbClr val="0D1B2A"/>
          </a:solidFill>
          <a:ln w="6350">
            <a:solidFill>
              <a:srgbClr val="6B8499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777240"/>
            <a:ext cx="2743200" cy="1828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" y="26060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Fig. 5 · Aviso KVM (VirtualBox)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3154680" y="731520"/>
            <a:ext cx="2834640" cy="1920240"/>
          </a:xfrm>
          <a:prstGeom prst="rect">
            <a:avLst/>
          </a:prstGeom>
          <a:solidFill>
            <a:srgbClr val="0D1B2A"/>
          </a:solidFill>
          <a:ln w="6350">
            <a:solidFill>
              <a:srgbClr val="6B8499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200400" y="777240"/>
            <a:ext cx="2743200" cy="18288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200400" y="26060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Fig. 6 · Disco destino /dev/sda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6080760" y="731520"/>
            <a:ext cx="2834640" cy="1920240"/>
          </a:xfrm>
          <a:prstGeom prst="rect">
            <a:avLst/>
          </a:prstGeom>
          <a:solidFill>
            <a:srgbClr val="0D1B2A"/>
          </a:solidFill>
          <a:ln w="6350">
            <a:solidFill>
              <a:srgbClr val="6B8499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126480" y="777240"/>
            <a:ext cx="2743200" cy="18288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126480" y="26060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Fig. 7 · Localización Spain</a:t>
            </a:r>
            <a:endParaRPr lang="en-US" sz="900" dirty="0"/>
          </a:p>
        </p:txBody>
      </p:sp>
      <p:sp>
        <p:nvSpPr>
          <p:cNvPr id="13" name="Shape 8"/>
          <p:cNvSpPr/>
          <p:nvPr/>
        </p:nvSpPr>
        <p:spPr>
          <a:xfrm>
            <a:off x="228600" y="2834640"/>
            <a:ext cx="2834640" cy="1920240"/>
          </a:xfrm>
          <a:prstGeom prst="rect">
            <a:avLst/>
          </a:prstGeom>
          <a:solidFill>
            <a:srgbClr val="0D1B2A"/>
          </a:solidFill>
          <a:ln w="6350">
            <a:solidFill>
              <a:srgbClr val="6B8499"/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274320" y="2880360"/>
            <a:ext cx="2743200" cy="18288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274320" y="47091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Fig. 8 · Contraseña root</a:t>
            </a:r>
            <a:endParaRPr lang="en-US" sz="900" dirty="0"/>
          </a:p>
        </p:txBody>
      </p:sp>
      <p:sp>
        <p:nvSpPr>
          <p:cNvPr id="16" name="Shape 10"/>
          <p:cNvSpPr/>
          <p:nvPr/>
        </p:nvSpPr>
        <p:spPr>
          <a:xfrm>
            <a:off x="3154680" y="2834640"/>
            <a:ext cx="2834640" cy="1920240"/>
          </a:xfrm>
          <a:prstGeom prst="rect">
            <a:avLst/>
          </a:prstGeom>
          <a:solidFill>
            <a:srgbClr val="0D1B2A"/>
          </a:solidFill>
          <a:ln w="6350">
            <a:solidFill>
              <a:srgbClr val="6B8499"/>
            </a:solidFill>
            <a:prstDash val="solid"/>
          </a:ln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3200400" y="2880360"/>
            <a:ext cx="2743200" cy="182880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3200400" y="47091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Fig. 9 · Configuración red</a:t>
            </a:r>
            <a:endParaRPr lang="en-US" sz="900" dirty="0"/>
          </a:p>
        </p:txBody>
      </p:sp>
      <p:sp>
        <p:nvSpPr>
          <p:cNvPr id="19" name="Shape 12"/>
          <p:cNvSpPr/>
          <p:nvPr/>
        </p:nvSpPr>
        <p:spPr>
          <a:xfrm>
            <a:off x="6080760" y="2834640"/>
            <a:ext cx="2834640" cy="1920240"/>
          </a:xfrm>
          <a:prstGeom prst="rect">
            <a:avLst/>
          </a:prstGeom>
          <a:solidFill>
            <a:srgbClr val="0D1B2A"/>
          </a:solidFill>
          <a:ln w="6350">
            <a:solidFill>
              <a:srgbClr val="6B8499"/>
            </a:solidFill>
            <a:prstDash val="solid"/>
          </a:ln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6126480" y="2880360"/>
            <a:ext cx="2743200" cy="182880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6126480" y="47091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Fig. 10 · Resumen instalación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05A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 · Implementación · Fase 3: Interfaz Web de Proxmox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5394960" cy="3931920"/>
          </a:xfrm>
          <a:prstGeom prst="rect">
            <a:avLst/>
          </a:prstGeom>
          <a:solidFill>
            <a:srgbClr val="0D1B2A"/>
          </a:solidFill>
          <a:ln w="19050">
            <a:solidFill>
              <a:srgbClr val="E05A0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960120"/>
            <a:ext cx="5303520" cy="3840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0" y="9601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7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Qué encontramos dentro: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852160" y="1417320"/>
            <a:ext cx="3017520" cy="731520"/>
          </a:xfrm>
          <a:prstGeom prst="rect">
            <a:avLst/>
          </a:prstGeom>
          <a:solidFill>
            <a:srgbClr val="1E3A52"/>
          </a:solidFill>
          <a:ln w="6350">
            <a:solidFill>
              <a:srgbClr val="6B8499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852160" y="1417320"/>
            <a:ext cx="731520" cy="731520"/>
          </a:xfrm>
          <a:prstGeom prst="ellipse">
            <a:avLst/>
          </a:prstGeom>
          <a:solidFill>
            <a:srgbClr val="E05A00"/>
          </a:solidFill>
          <a:ln w="12700">
            <a:solidFill>
              <a:srgbClr val="E05A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852160" y="1417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675120" y="1463040"/>
            <a:ext cx="210312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Acceso: https://10.10.102.206:8006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852160" y="2286000"/>
            <a:ext cx="3017520" cy="731520"/>
          </a:xfrm>
          <a:prstGeom prst="rect">
            <a:avLst/>
          </a:prstGeom>
          <a:solidFill>
            <a:srgbClr val="1E3A52"/>
          </a:solidFill>
          <a:ln w="6350">
            <a:solidFill>
              <a:srgbClr val="6B8499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852160" y="2286000"/>
            <a:ext cx="731520" cy="731520"/>
          </a:xfrm>
          <a:prstGeom prst="ellipse">
            <a:avLst/>
          </a:prstGeom>
          <a:solidFill>
            <a:srgbClr val="E05A00"/>
          </a:solidFill>
          <a:ln w="12700">
            <a:solidFill>
              <a:srgbClr val="E05A0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852160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675120" y="2331720"/>
            <a:ext cx="210312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Login: root · Autenticación Linux PAM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852160" y="3154680"/>
            <a:ext cx="3017520" cy="731520"/>
          </a:xfrm>
          <a:prstGeom prst="rect">
            <a:avLst/>
          </a:prstGeom>
          <a:solidFill>
            <a:srgbClr val="1E3A52"/>
          </a:solidFill>
          <a:ln w="6350">
            <a:solidFill>
              <a:srgbClr val="6B8499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852160" y="3154680"/>
            <a:ext cx="731520" cy="731520"/>
          </a:xfrm>
          <a:prstGeom prst="ellipse">
            <a:avLst/>
          </a:prstGeom>
          <a:solidFill>
            <a:srgbClr val="E05A00"/>
          </a:solidFill>
          <a:ln w="12700">
            <a:solidFill>
              <a:srgbClr val="E05A0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852160" y="31546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6675120" y="3200400"/>
            <a:ext cx="210312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Dashboard: nodo pve, local, local-lvm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5852160" y="4023360"/>
            <a:ext cx="3017520" cy="731520"/>
          </a:xfrm>
          <a:prstGeom prst="rect">
            <a:avLst/>
          </a:prstGeom>
          <a:solidFill>
            <a:srgbClr val="1E3A52"/>
          </a:solidFill>
          <a:ln w="6350">
            <a:solidFill>
              <a:srgbClr val="6B8499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852160" y="4023360"/>
            <a:ext cx="731520" cy="731520"/>
          </a:xfrm>
          <a:prstGeom prst="ellipse">
            <a:avLst/>
          </a:prstGeom>
          <a:solidFill>
            <a:srgbClr val="E05A00"/>
          </a:solidFill>
          <a:ln w="12700">
            <a:solidFill>
              <a:srgbClr val="E05A0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852160" y="40233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6675120" y="4069080"/>
            <a:ext cx="210312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Menú nodo: Red, DNS, Certs, Cortafuego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274320" y="4754880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Fig. 13 · Dashboard con menú del nodo desplegado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2E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E05A00"/>
          </a:solidFill>
          <a:ln w="12700">
            <a:solidFill>
              <a:srgbClr val="E05A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 · Implementación · Fase 4: Subir ISO y Crear VM 100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265176" y="813816"/>
            <a:ext cx="4270248" cy="1938528"/>
          </a:xfrm>
          <a:prstGeom prst="rect">
            <a:avLst/>
          </a:prstGeom>
          <a:solidFill>
            <a:srgbClr val="0D1B2A"/>
          </a:solidFill>
          <a:ln w="6350">
            <a:solidFill>
              <a:srgbClr val="6B8499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868680"/>
            <a:ext cx="4160520" cy="1828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20040" y="2697480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Fig. 17 · ISO Images – antes de subir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700016" y="813816"/>
            <a:ext cx="4270248" cy="1938528"/>
          </a:xfrm>
          <a:prstGeom prst="rect">
            <a:avLst/>
          </a:prstGeom>
          <a:solidFill>
            <a:srgbClr val="0D1B2A"/>
          </a:solidFill>
          <a:ln w="6350">
            <a:solidFill>
              <a:srgbClr val="6B8499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754880" y="868680"/>
            <a:ext cx="4160520" cy="18288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754880" y="2697480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Fig. 19 · Asistente General: ID 100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265176" y="2916936"/>
            <a:ext cx="4270248" cy="1938528"/>
          </a:xfrm>
          <a:prstGeom prst="rect">
            <a:avLst/>
          </a:prstGeom>
          <a:solidFill>
            <a:srgbClr val="0D1B2A"/>
          </a:solidFill>
          <a:ln w="6350">
            <a:solidFill>
              <a:srgbClr val="6B8499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20040" y="2971800"/>
            <a:ext cx="4160520" cy="18288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20040" y="4800600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Fig. 21 · Disco: SCSI 32 GiB</a:t>
            </a:r>
            <a:endParaRPr lang="en-US" sz="900" dirty="0"/>
          </a:p>
        </p:txBody>
      </p:sp>
      <p:sp>
        <p:nvSpPr>
          <p:cNvPr id="13" name="Shape 8"/>
          <p:cNvSpPr/>
          <p:nvPr/>
        </p:nvSpPr>
        <p:spPr>
          <a:xfrm>
            <a:off x="4700016" y="2916936"/>
            <a:ext cx="4270248" cy="1938528"/>
          </a:xfrm>
          <a:prstGeom prst="rect">
            <a:avLst/>
          </a:prstGeom>
          <a:solidFill>
            <a:srgbClr val="0D1B2A"/>
          </a:solidFill>
          <a:ln w="6350">
            <a:solidFill>
              <a:srgbClr val="6B8499"/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754880" y="2971800"/>
            <a:ext cx="4160520" cy="18288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754880" y="4800600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Fig. 22 · Confirmar configuración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05A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 · Implementación · Fase 5: Instalar Ubuntu Server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4114800" cy="1188720"/>
          </a:xfrm>
          <a:prstGeom prst="rect">
            <a:avLst/>
          </a:prstGeom>
          <a:solidFill>
            <a:srgbClr val="1A2E44"/>
          </a:solidFill>
          <a:ln w="6350">
            <a:solidFill>
              <a:srgbClr val="6B8499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868680"/>
            <a:ext cx="4114800" cy="11887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" y="205740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Fig. 24 · GRUB Ubuntu en consola noVNC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274320" y="2258568"/>
            <a:ext cx="4114800" cy="1188720"/>
          </a:xfrm>
          <a:prstGeom prst="rect">
            <a:avLst/>
          </a:prstGeom>
          <a:solidFill>
            <a:srgbClr val="1A2E44"/>
          </a:solidFill>
          <a:ln w="6350">
            <a:solidFill>
              <a:srgbClr val="6B8499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74320" y="2258568"/>
            <a:ext cx="4114800" cy="11887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74320" y="344728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Fig. 26 · Instalador – idioma Español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274320" y="3648456"/>
            <a:ext cx="4114800" cy="1188720"/>
          </a:xfrm>
          <a:prstGeom prst="rect">
            <a:avLst/>
          </a:prstGeom>
          <a:solidFill>
            <a:srgbClr val="1A2E44"/>
          </a:solidFill>
          <a:ln w="6350">
            <a:solidFill>
              <a:srgbClr val="6B8499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274320" y="3648456"/>
            <a:ext cx="4114800" cy="118872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274320" y="4837176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Fig. 27 · Installation complete!</a:t>
            </a:r>
            <a:endParaRPr lang="en-US" sz="900" dirty="0"/>
          </a:p>
        </p:txBody>
      </p:sp>
      <p:sp>
        <p:nvSpPr>
          <p:cNvPr id="13" name="Text 8"/>
          <p:cNvSpPr/>
          <p:nvPr/>
        </p:nvSpPr>
        <p:spPr>
          <a:xfrm>
            <a:off x="4663440" y="9144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7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 que hace el instalador:</a:t>
            </a:r>
            <a:endParaRPr lang="en-US" sz="1400" dirty="0"/>
          </a:p>
        </p:txBody>
      </p:sp>
      <p:sp>
        <p:nvSpPr>
          <p:cNvPr id="14" name="Shape 9"/>
          <p:cNvSpPr/>
          <p:nvPr/>
        </p:nvSpPr>
        <p:spPr>
          <a:xfrm>
            <a:off x="4663440" y="1371600"/>
            <a:ext cx="4114800" cy="493776"/>
          </a:xfrm>
          <a:prstGeom prst="rect">
            <a:avLst/>
          </a:prstGeom>
          <a:solidFill>
            <a:srgbClr val="1E3A52"/>
          </a:solidFill>
          <a:ln w="6350">
            <a:solidFill>
              <a:srgbClr val="6B8499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4663440" y="1371600"/>
            <a:ext cx="73152" cy="493776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4828032" y="1371600"/>
            <a:ext cx="3886200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Arranque desde ISO Ubuntu Server en consola noVNC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4663440" y="1938528"/>
            <a:ext cx="4114800" cy="493776"/>
          </a:xfrm>
          <a:prstGeom prst="rect">
            <a:avLst/>
          </a:prstGeom>
          <a:solidFill>
            <a:srgbClr val="1E3A52"/>
          </a:solidFill>
          <a:ln w="6350">
            <a:solidFill>
              <a:srgbClr val="6B8499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4663440" y="1938528"/>
            <a:ext cx="73152" cy="493776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4828032" y="1938528"/>
            <a:ext cx="3886200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Idioma: Español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4663440" y="2505456"/>
            <a:ext cx="4114800" cy="493776"/>
          </a:xfrm>
          <a:prstGeom prst="rect">
            <a:avLst/>
          </a:prstGeom>
          <a:solidFill>
            <a:srgbClr val="1E3A52"/>
          </a:solidFill>
          <a:ln w="6350">
            <a:solidFill>
              <a:srgbClr val="6B8499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4663440" y="2505456"/>
            <a:ext cx="73152" cy="493776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4828032" y="2505456"/>
            <a:ext cx="3886200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Particionado automático con LVM (32 GiB completos)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4663440" y="3072384"/>
            <a:ext cx="4114800" cy="493776"/>
          </a:xfrm>
          <a:prstGeom prst="rect">
            <a:avLst/>
          </a:prstGeom>
          <a:solidFill>
            <a:srgbClr val="1E3A52"/>
          </a:solidFill>
          <a:ln w="6350">
            <a:solidFill>
              <a:srgbClr val="6B8499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4663440" y="3072384"/>
            <a:ext cx="73152" cy="493776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4828032" y="3072384"/>
            <a:ext cx="3886200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Usuario: matias · OpenSSH Server activado</a:t>
            </a:r>
            <a:endParaRPr lang="en-US" sz="1200" dirty="0"/>
          </a:p>
        </p:txBody>
      </p:sp>
      <p:sp>
        <p:nvSpPr>
          <p:cNvPr id="26" name="Shape 21"/>
          <p:cNvSpPr/>
          <p:nvPr/>
        </p:nvSpPr>
        <p:spPr>
          <a:xfrm>
            <a:off x="4663440" y="3639312"/>
            <a:ext cx="4114800" cy="493776"/>
          </a:xfrm>
          <a:prstGeom prst="rect">
            <a:avLst/>
          </a:prstGeom>
          <a:solidFill>
            <a:srgbClr val="1E3A52"/>
          </a:solidFill>
          <a:ln w="6350">
            <a:solidFill>
              <a:srgbClr val="6B8499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4663440" y="3639312"/>
            <a:ext cx="73152" cy="493776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4828032" y="3639312"/>
            <a:ext cx="3886200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Cloud-init activado para aprovisionamiento automático</a:t>
            </a:r>
            <a:endParaRPr lang="en-US" sz="1200" dirty="0"/>
          </a:p>
        </p:txBody>
      </p:sp>
      <p:sp>
        <p:nvSpPr>
          <p:cNvPr id="29" name="Shape 24"/>
          <p:cNvSpPr/>
          <p:nvPr/>
        </p:nvSpPr>
        <p:spPr>
          <a:xfrm>
            <a:off x="4663440" y="4206240"/>
            <a:ext cx="4114800" cy="493776"/>
          </a:xfrm>
          <a:prstGeom prst="rect">
            <a:avLst/>
          </a:prstGeom>
          <a:solidFill>
            <a:srgbClr val="1E3A52"/>
          </a:solidFill>
          <a:ln w="6350">
            <a:solidFill>
              <a:srgbClr val="6B8499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4663440" y="4206240"/>
            <a:ext cx="73152" cy="493776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4828032" y="4206240"/>
            <a:ext cx="3886200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Installation complete! → Retirar ISO → Reiniciar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2E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E05A00"/>
          </a:solidFill>
          <a:ln w="12700">
            <a:solidFill>
              <a:srgbClr val="E05A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 · Implementación · Fase 6: VM Operativa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8595360" cy="3383280"/>
          </a:xfrm>
          <a:prstGeom prst="rect">
            <a:avLst/>
          </a:prstGeom>
          <a:solidFill>
            <a:srgbClr val="0D1B2A"/>
          </a:solidFill>
          <a:ln w="19050">
            <a:solidFill>
              <a:srgbClr val="2ECC71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868680"/>
            <a:ext cx="8503920" cy="32918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20040" y="4206240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Fig. 28 · Cloud-init completado: claves SSH generadas, usuario matias configurado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320040" y="4526280"/>
            <a:ext cx="2011680" cy="502920"/>
          </a:xfrm>
          <a:prstGeom prst="rect">
            <a:avLst/>
          </a:prstGeom>
          <a:solidFill>
            <a:srgbClr val="1E3A52"/>
          </a:solidFill>
          <a:ln w="6350">
            <a:solidFill>
              <a:srgbClr val="6B849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452628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Kernel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320040" y="47548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6.8.0-71-generic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468880" y="4526280"/>
            <a:ext cx="2011680" cy="502920"/>
          </a:xfrm>
          <a:prstGeom prst="rect">
            <a:avLst/>
          </a:prstGeom>
          <a:solidFill>
            <a:srgbClr val="1E3A52"/>
          </a:solidFill>
          <a:ln w="6350">
            <a:solidFill>
              <a:srgbClr val="6B849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468880" y="452628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2468880" y="47548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43.4% uso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617720" y="4526280"/>
            <a:ext cx="2011680" cy="502920"/>
          </a:xfrm>
          <a:prstGeom prst="rect">
            <a:avLst/>
          </a:prstGeom>
          <a:solidFill>
            <a:srgbClr val="1E3A52"/>
          </a:solidFill>
          <a:ln w="6350">
            <a:solidFill>
              <a:srgbClr val="6B849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617720" y="452628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Carga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617720" y="47548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0.82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766560" y="4526280"/>
            <a:ext cx="2011680" cy="502920"/>
          </a:xfrm>
          <a:prstGeom prst="rect">
            <a:avLst/>
          </a:prstGeom>
          <a:solidFill>
            <a:srgbClr val="2ECC71"/>
          </a:solidFill>
          <a:ln w="6350">
            <a:solidFill>
              <a:srgbClr val="2ECC7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766560" y="452628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Estado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6766560" y="47548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OPERATIVA ✓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05A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VM Ubuntu 24.04.3 LTS – Login y verificación final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128016" y="722376"/>
            <a:ext cx="2944368" cy="4041648"/>
          </a:xfrm>
          <a:prstGeom prst="rect">
            <a:avLst/>
          </a:prstGeom>
          <a:solidFill>
            <a:srgbClr val="1A2E44"/>
          </a:solidFill>
          <a:ln w="19050">
            <a:solidFill>
              <a:srgbClr val="E05A0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82880" y="777240"/>
            <a:ext cx="2834640" cy="3931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2880" y="475488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Fig. 28 · Cloud-init + claves SSH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3118104" y="722376"/>
            <a:ext cx="2944368" cy="4041648"/>
          </a:xfrm>
          <a:prstGeom prst="rect">
            <a:avLst/>
          </a:prstGeom>
          <a:solidFill>
            <a:srgbClr val="1A2E44"/>
          </a:solidFill>
          <a:ln w="19050">
            <a:solidFill>
              <a:srgbClr val="E05A00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172968" y="777240"/>
            <a:ext cx="2834640" cy="39319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172968" y="475488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Fig. 29 · Login usuario matias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6108192" y="722376"/>
            <a:ext cx="2944368" cy="4041648"/>
          </a:xfrm>
          <a:prstGeom prst="rect">
            <a:avLst/>
          </a:prstGeom>
          <a:solidFill>
            <a:srgbClr val="1A2E44"/>
          </a:solidFill>
          <a:ln w="19050">
            <a:solidFill>
              <a:srgbClr val="2ECC71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163056" y="777240"/>
            <a:ext cx="2834640" cy="393192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163056" y="475488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Fig. 30 · Sistema operativo funcionando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2E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E05A00"/>
          </a:solidFill>
          <a:ln w="12700">
            <a:solidFill>
              <a:srgbClr val="E05A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 · Incidencias Reales y Cómo se Resolvieron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8503920" cy="1920240"/>
          </a:xfrm>
          <a:prstGeom prst="rect">
            <a:avLst/>
          </a:prstGeom>
          <a:solidFill>
            <a:srgbClr val="1E3A52"/>
          </a:solidFill>
          <a:ln w="19050">
            <a:solidFill>
              <a:srgbClr val="F39C1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14400"/>
            <a:ext cx="128016" cy="19202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960120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9C1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INC-01 · Sin aceleración KVM en VirtualBox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307592"/>
            <a:ext cx="790956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Causa: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VirtualBox no expone VT-x/AMD-V al sistema invitado por defecto.
</a:t>
            </a:r>
            <a:pPr indent="0" marL="0">
              <a:buNone/>
            </a:pPr>
            <a:r>
              <a:rPr lang="en-US" sz="1200" b="1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Impacto: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instalador de Proxmox muestra el aviso 'No support for hardware-accelerated KVM virtualization detected'.
</a:t>
            </a:r>
            <a:pPr indent="0" marL="0">
              <a:buNone/>
            </a:pPr>
            <a:r>
              <a:rPr lang="en-US" sz="1200" b="1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Solución: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Aceptar el aviso y continuar en modo emulación QEMU. Funciona para laboratorio.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2971800"/>
            <a:ext cx="8503920" cy="1920240"/>
          </a:xfrm>
          <a:prstGeom prst="rect">
            <a:avLst/>
          </a:prstGeom>
          <a:solidFill>
            <a:srgbClr val="1E3A52"/>
          </a:solidFill>
          <a:ln w="19050">
            <a:solidFill>
              <a:srgbClr val="E74C3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2971800"/>
            <a:ext cx="128016" cy="192024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017520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74C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INC-02 · Error al iniciar la VM: KVM not available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48640" y="3364992"/>
            <a:ext cx="790956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Causa: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asistente crea VMs con KVM activo por defecto, pero KVM no está disponible en VirtualBox anidado.
</a:t>
            </a:r>
            <a:pPr indent="0" marL="0">
              <a:buNone/>
            </a:pPr>
            <a:r>
              <a:rPr lang="en-US" sz="1200" b="1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Impacto: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'Error: KVM virtualisation configured, but not available' → la VM no arranca.
</a:t>
            </a:r>
            <a:pPr indent="0" marL="0">
              <a:buNone/>
            </a:pPr>
            <a:r>
              <a:rPr lang="en-US" sz="1200" b="1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Solución: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 → Procesador → cambiar tipo CPU a x86-64-v2-AES en modo QEMU. VM arranca perfectamente.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05A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 · Pruebas y Validación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8503920" cy="457200"/>
          </a:xfrm>
          <a:prstGeom prst="rect">
            <a:avLst/>
          </a:prstGeom>
          <a:solidFill>
            <a:srgbClr val="1E3A52"/>
          </a:solidFill>
          <a:ln w="3810">
            <a:solidFill>
              <a:srgbClr val="6B84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41832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5A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PR-01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234440" y="941832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Instalación PVE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926080" y="941832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Proxmox VE 9.1 instalado y arrancado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955280" y="978408"/>
            <a:ext cx="777240" cy="329184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55280" y="978408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PASS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1417320"/>
            <a:ext cx="8503920" cy="457200"/>
          </a:xfrm>
          <a:prstGeom prst="rect">
            <a:avLst/>
          </a:prstGeom>
          <a:solidFill>
            <a:srgbClr val="0D1B2A"/>
          </a:solidFill>
          <a:ln w="3810">
            <a:solidFill>
              <a:srgbClr val="6B84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444752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5A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PR-02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34440" y="1444752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web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926080" y="1444752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 root en https://10.10.102.206:8006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955280" y="1481328"/>
            <a:ext cx="777240" cy="329184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55280" y="1481328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PASS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" y="1920240"/>
            <a:ext cx="8503920" cy="457200"/>
          </a:xfrm>
          <a:prstGeom prst="rect">
            <a:avLst/>
          </a:prstGeom>
          <a:solidFill>
            <a:srgbClr val="1E3A52"/>
          </a:solidFill>
          <a:ln w="3810">
            <a:solidFill>
              <a:srgbClr val="6B849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1947672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5A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PR-03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234440" y="1947672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Subida ISO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926080" y="1947672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ubuntu-24.04.3 (3.08 GiB) subida al nodo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955280" y="1984248"/>
            <a:ext cx="777240" cy="329184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955280" y="1984248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PASS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20040" y="2423160"/>
            <a:ext cx="8503920" cy="457200"/>
          </a:xfrm>
          <a:prstGeom prst="rect">
            <a:avLst/>
          </a:prstGeom>
          <a:solidFill>
            <a:srgbClr val="0D1B2A"/>
          </a:solidFill>
          <a:ln w="3810">
            <a:solidFill>
              <a:srgbClr val="6B849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2450592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5A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PR-04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234440" y="2450592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Crear VM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926080" y="2450592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VM 100 creada con asistente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955280" y="2487168"/>
            <a:ext cx="777240" cy="329184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955280" y="2487168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PASS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20040" y="2926080"/>
            <a:ext cx="8503920" cy="457200"/>
          </a:xfrm>
          <a:prstGeom prst="rect">
            <a:avLst/>
          </a:prstGeom>
          <a:solidFill>
            <a:srgbClr val="1E3A52"/>
          </a:solidFill>
          <a:ln w="3810">
            <a:solidFill>
              <a:srgbClr val="6B849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2953512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5A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PR-05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234440" y="2953512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Arranque VM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926080" y="2953512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GRUB Ubuntu visible en consola noVNC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955280" y="2990088"/>
            <a:ext cx="777240" cy="329184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955280" y="2990088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PASS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20040" y="3429000"/>
            <a:ext cx="8503920" cy="457200"/>
          </a:xfrm>
          <a:prstGeom prst="rect">
            <a:avLst/>
          </a:prstGeom>
          <a:solidFill>
            <a:srgbClr val="0D1B2A"/>
          </a:solidFill>
          <a:ln w="3810">
            <a:solidFill>
              <a:srgbClr val="6B849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3456432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5A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PR-06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234440" y="3456432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Instalación Ubuntu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2926080" y="3456432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'Installation complete!'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7955280" y="3493008"/>
            <a:ext cx="777240" cy="329184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955280" y="3493008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PASS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20040" y="3931920"/>
            <a:ext cx="8503920" cy="457200"/>
          </a:xfrm>
          <a:prstGeom prst="rect">
            <a:avLst/>
          </a:prstGeom>
          <a:solidFill>
            <a:srgbClr val="1E3A52"/>
          </a:solidFill>
          <a:ln w="3810">
            <a:solidFill>
              <a:srgbClr val="6B849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" y="3959352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5A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PR-07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1234440" y="3959352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Cloud-init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2926080" y="3959352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Claves SSH generadas al primer arranque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7955280" y="3995928"/>
            <a:ext cx="777240" cy="329184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955280" y="3995928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PASS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320040" y="4434840"/>
            <a:ext cx="8503920" cy="457200"/>
          </a:xfrm>
          <a:prstGeom prst="rect">
            <a:avLst/>
          </a:prstGeom>
          <a:solidFill>
            <a:srgbClr val="0D1B2A"/>
          </a:solidFill>
          <a:ln w="3810">
            <a:solidFill>
              <a:srgbClr val="6B849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65760" y="4462272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5A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PR-08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1234440" y="4462272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 VM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2926080" y="4462272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Welcome Ubuntu 24.04.3 + shell matias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7955280" y="4498848"/>
            <a:ext cx="777240" cy="329184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955280" y="4498848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PASS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320040" y="4956048"/>
            <a:ext cx="8503920" cy="0"/>
          </a:xfrm>
          <a:prstGeom prst="rect">
            <a:avLst/>
          </a:prstGeom>
          <a:solidFill>
            <a:srgbClr val="1E3A52"/>
          </a:solidFill>
          <a:ln w="12700">
            <a:solidFill>
              <a:srgbClr val="1E3A52"/>
            </a:solidFill>
            <a:prstDash val="solid"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05A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Resultado Final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1920240" cy="2103120"/>
          </a:xfrm>
          <a:prstGeom prst="rect">
            <a:avLst/>
          </a:prstGeom>
          <a:solidFill>
            <a:srgbClr val="1E3A52"/>
          </a:solidFill>
          <a:ln w="25400">
            <a:solidFill>
              <a:srgbClr val="2ECC7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1920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2ECC7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8/8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Pruebas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superadas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606040" y="960120"/>
            <a:ext cx="1920240" cy="2103120"/>
          </a:xfrm>
          <a:prstGeom prst="rect">
            <a:avLst/>
          </a:prstGeom>
          <a:solidFill>
            <a:srgbClr val="1E3A52"/>
          </a:solidFill>
          <a:ln w="25400">
            <a:solidFill>
              <a:srgbClr val="E05A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06040" y="1005840"/>
            <a:ext cx="1920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E05A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100%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2606040" y="219456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alcanzados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960120"/>
            <a:ext cx="1920240" cy="2103120"/>
          </a:xfrm>
          <a:prstGeom prst="rect">
            <a:avLst/>
          </a:prstGeom>
          <a:solidFill>
            <a:srgbClr val="1E3A52"/>
          </a:solidFill>
          <a:ln w="25400">
            <a:solidFill>
              <a:srgbClr val="F39C1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005840"/>
            <a:ext cx="1920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39C1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5200" dirty="0"/>
          </a:p>
        </p:txBody>
      </p:sp>
      <p:sp>
        <p:nvSpPr>
          <p:cNvPr id="12" name="Text 10"/>
          <p:cNvSpPr/>
          <p:nvPr/>
        </p:nvSpPr>
        <p:spPr>
          <a:xfrm>
            <a:off x="4754880" y="219456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Incidencias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resueltas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903720" y="960120"/>
            <a:ext cx="1920240" cy="2103120"/>
          </a:xfrm>
          <a:prstGeom prst="rect">
            <a:avLst/>
          </a:prstGeom>
          <a:solidFill>
            <a:srgbClr val="1E3A52"/>
          </a:solidFill>
          <a:ln w="25400">
            <a:solidFill>
              <a:srgbClr val="A0B4C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03720" y="1005840"/>
            <a:ext cx="1920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A0B4C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</a:t>
            </a:r>
            <a:endParaRPr lang="en-US" sz="5200" dirty="0"/>
          </a:p>
        </p:txBody>
      </p:sp>
      <p:sp>
        <p:nvSpPr>
          <p:cNvPr id="15" name="Text 13"/>
          <p:cNvSpPr/>
          <p:nvPr/>
        </p:nvSpPr>
        <p:spPr>
          <a:xfrm>
            <a:off x="6903720" y="219456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Capturas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documentadas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20040" y="3218688"/>
            <a:ext cx="8503920" cy="1828800"/>
          </a:xfrm>
          <a:prstGeom prst="rect">
            <a:avLst/>
          </a:prstGeom>
          <a:solidFill>
            <a:srgbClr val="1A2E44"/>
          </a:solidFill>
          <a:ln w="19050">
            <a:solidFill>
              <a:srgbClr val="2ECC71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3218688"/>
            <a:ext cx="8503920" cy="182880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320040" y="5056632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Fig. 30 · Ubuntu 24.04.3 LTS operativa: carga 0.82 · 43.4% disco · kernel 6.8.0-71-generic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2E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E05A00"/>
          </a:solidFill>
          <a:ln w="12700">
            <a:solidFill>
              <a:srgbClr val="E05A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 · Conclusiones y Aprendizajes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20040" y="9144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7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 que aprendimos de verdad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371600"/>
            <a:ext cx="4114800" cy="713232"/>
          </a:xfrm>
          <a:prstGeom prst="rect">
            <a:avLst/>
          </a:prstGeom>
          <a:solidFill>
            <a:srgbClr val="1E3A52"/>
          </a:solidFill>
          <a:ln w="6350">
            <a:solidFill>
              <a:srgbClr val="6B849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371600"/>
            <a:ext cx="73152" cy="713232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" y="1371600"/>
            <a:ext cx="3840480" cy="7132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Instalar y configurar Proxmox VE desde cero en un entorno no ideal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2176272"/>
            <a:ext cx="4114800" cy="713232"/>
          </a:xfrm>
          <a:prstGeom prst="rect">
            <a:avLst/>
          </a:prstGeom>
          <a:solidFill>
            <a:srgbClr val="1E3A52"/>
          </a:solidFill>
          <a:ln w="6350">
            <a:solidFill>
              <a:srgbClr val="6B849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2176272"/>
            <a:ext cx="73152" cy="713232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" y="2176272"/>
            <a:ext cx="3840480" cy="7132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Diferencia práctica entre hipervisor tipo 1 y tipo 2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" y="2980944"/>
            <a:ext cx="4114800" cy="713232"/>
          </a:xfrm>
          <a:prstGeom prst="rect">
            <a:avLst/>
          </a:prstGeom>
          <a:solidFill>
            <a:srgbClr val="1E3A52"/>
          </a:solidFill>
          <a:ln w="6350">
            <a:solidFill>
              <a:srgbClr val="6B849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2980944"/>
            <a:ext cx="73152" cy="713232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" y="2980944"/>
            <a:ext cx="3840480" cy="7132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Diagnóstico de errores KVM: leer logs, entender el porqué, corregir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" y="3785616"/>
            <a:ext cx="4114800" cy="713232"/>
          </a:xfrm>
          <a:prstGeom prst="rect">
            <a:avLst/>
          </a:prstGeom>
          <a:solidFill>
            <a:srgbClr val="1E3A52"/>
          </a:solidFill>
          <a:ln w="6350">
            <a:solidFill>
              <a:srgbClr val="6B849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3785616"/>
            <a:ext cx="73152" cy="713232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" y="3785616"/>
            <a:ext cx="3840480" cy="7132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Cloud-init: aprovisionamiento automático de usuarios y SSH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92040" y="9144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7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Dónde están los límites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892040" y="1371600"/>
            <a:ext cx="4114800" cy="713232"/>
          </a:xfrm>
          <a:prstGeom prst="rect">
            <a:avLst/>
          </a:prstGeom>
          <a:solidFill>
            <a:srgbClr val="1E3A52"/>
          </a:solidFill>
          <a:ln w="6350">
            <a:solidFill>
              <a:srgbClr val="6B849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92040" y="1371600"/>
            <a:ext cx="73152" cy="713232"/>
          </a:xfrm>
          <a:prstGeom prst="rect">
            <a:avLst/>
          </a:prstGeom>
          <a:solidFill>
            <a:srgbClr val="E05A00"/>
          </a:solidFill>
          <a:ln w="12700">
            <a:solidFill>
              <a:srgbClr val="E05A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56632" y="1371600"/>
            <a:ext cx="3840480" cy="7132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hardware físico: sin KVM real, sin Ceph, sin HA real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892040" y="2176272"/>
            <a:ext cx="4114800" cy="713232"/>
          </a:xfrm>
          <a:prstGeom prst="rect">
            <a:avLst/>
          </a:prstGeom>
          <a:solidFill>
            <a:srgbClr val="1E3A52"/>
          </a:solidFill>
          <a:ln w="6350">
            <a:solidFill>
              <a:srgbClr val="6B849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92040" y="2176272"/>
            <a:ext cx="73152" cy="713232"/>
          </a:xfrm>
          <a:prstGeom prst="rect">
            <a:avLst/>
          </a:prstGeom>
          <a:solidFill>
            <a:srgbClr val="E05A00"/>
          </a:solidFill>
          <a:ln w="12700">
            <a:solidFill>
              <a:srgbClr val="E05A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56632" y="2176272"/>
            <a:ext cx="3840480" cy="7132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Rendimiento limitado por emulación QEMU sobre VirtualBox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892040" y="2980944"/>
            <a:ext cx="4114800" cy="713232"/>
          </a:xfrm>
          <a:prstGeom prst="rect">
            <a:avLst/>
          </a:prstGeom>
          <a:solidFill>
            <a:srgbClr val="1E3A52"/>
          </a:solidFill>
          <a:ln w="6350">
            <a:solidFill>
              <a:srgbClr val="6B849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92040" y="2980944"/>
            <a:ext cx="73152" cy="713232"/>
          </a:xfrm>
          <a:prstGeom prst="rect">
            <a:avLst/>
          </a:prstGeom>
          <a:solidFill>
            <a:srgbClr val="E05A00"/>
          </a:solidFill>
          <a:ln w="12700">
            <a:solidFill>
              <a:srgbClr val="E05A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56632" y="2980944"/>
            <a:ext cx="3840480" cy="7132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Próximo paso natural: Proxmox en bare-metal + clúster 3 nodos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05A00"/>
          </a:solidFill>
          <a:ln w="12700">
            <a:solidFill>
              <a:srgbClr val="E05A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E05A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Gracias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57200" y="1783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vuestra atención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2468880"/>
            <a:ext cx="4572000" cy="22860"/>
          </a:xfrm>
          <a:prstGeom prst="rect">
            <a:avLst/>
          </a:prstGeom>
          <a:solidFill>
            <a:srgbClr val="A0B4C8"/>
          </a:solidFill>
          <a:ln w="12700">
            <a:solidFill>
              <a:srgbClr val="A0B4C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60604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Santiago Gómez Vacas
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Matias Florenttini Gómez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34747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Tutora: Ainara Gómez · FP LUMARA · ASIR 2025/2026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248656" y="1577232"/>
            <a:ext cx="3767328" cy="1989037"/>
          </a:xfrm>
          <a:prstGeom prst="rect">
            <a:avLst/>
          </a:prstGeom>
          <a:solidFill>
            <a:srgbClr val="0D1B2A"/>
          </a:solidFill>
          <a:ln w="19050">
            <a:solidFill>
              <a:srgbClr val="2ECC71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632096"/>
            <a:ext cx="3657600" cy="1879309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05A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Repositorio Git y Declaración de uso de IA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4114800" cy="4023360"/>
          </a:xfrm>
          <a:prstGeom prst="rect">
            <a:avLst/>
          </a:prstGeom>
          <a:solidFill>
            <a:srgbClr val="1E3A52"/>
          </a:solidFill>
          <a:ln w="6350">
            <a:solidFill>
              <a:srgbClr val="6B849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14400"/>
            <a:ext cx="4114800" cy="411480"/>
          </a:xfrm>
          <a:prstGeom prst="rect">
            <a:avLst/>
          </a:prstGeom>
          <a:solidFill>
            <a:srgbClr val="24292E"/>
          </a:solidFill>
          <a:ln w="12700">
            <a:solidFill>
              <a:srgbClr val="2429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91440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GitHub – Repositorio del proyecto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7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github.com/[usuario]/proxmox-tfg-asir-2026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78308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14884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/memoria     Memoria técnica PDF y DOCX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51460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/capturas    Capturas por fases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288036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/scripts     verify_vm.sh y scripts config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24612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/config      interfaces, cloud-init...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361188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README.md    Guía de instalación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44805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84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URL disponible en la portada de la memoria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09160" y="914400"/>
            <a:ext cx="4114800" cy="4023360"/>
          </a:xfrm>
          <a:prstGeom prst="rect">
            <a:avLst/>
          </a:prstGeom>
          <a:solidFill>
            <a:srgbClr val="1E3A52"/>
          </a:solidFill>
          <a:ln w="6350">
            <a:solidFill>
              <a:srgbClr val="6B849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09160" y="914400"/>
            <a:ext cx="4114800" cy="411480"/>
          </a:xfrm>
          <a:prstGeom prst="rect">
            <a:avLst/>
          </a:prstGeom>
          <a:solidFill>
            <a:srgbClr val="6B2FAA"/>
          </a:solidFill>
          <a:ln w="12700">
            <a:solidFill>
              <a:srgbClr val="6B2FA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91440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Declaración de uso de IA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800600" y="1417320"/>
            <a:ext cx="3886200" cy="713232"/>
          </a:xfrm>
          <a:prstGeom prst="rect">
            <a:avLst/>
          </a:prstGeom>
          <a:solidFill>
            <a:srgbClr val="0D1B2A"/>
          </a:solidFill>
          <a:ln w="3810">
            <a:solidFill>
              <a:srgbClr val="6B849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14630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7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Claude (Anthropic)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92040" y="175564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Apoyo en redacción y estructura de la memoria técnica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00600" y="2221992"/>
            <a:ext cx="3886200" cy="713232"/>
          </a:xfrm>
          <a:prstGeom prst="rect">
            <a:avLst/>
          </a:prstGeom>
          <a:solidFill>
            <a:srgbClr val="0D1B2A"/>
          </a:solidFill>
          <a:ln w="3810">
            <a:solidFill>
              <a:srgbClr val="6B849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226771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7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GitHub Copilot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92040" y="2560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Sugerencias en el script verify_vm.sh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00600" y="3063240"/>
            <a:ext cx="3886200" cy="1828800"/>
          </a:xfrm>
          <a:prstGeom prst="rect">
            <a:avLst/>
          </a:prstGeom>
          <a:solidFill>
            <a:srgbClr val="0D1B2A"/>
          </a:solidFill>
          <a:ln w="12700">
            <a:solidFill>
              <a:srgbClr val="E05A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92040" y="3108960"/>
            <a:ext cx="3657600" cy="1691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7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autores declaramos que: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Todo el contenido técnico ha sido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realizado y verificado por nosotros.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Proxmox, la VM y las pruebas son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reales, no generadas con IA.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Podemos defender cualquier parte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de este proyecto.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8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E8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E86A1A"/>
                </a:solidFill>
              </a:rPr>
              <a:t>FCT · PRÁCTICAS EN EMPRESA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Fundación Humana SPES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7744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CCCCCC"/>
                </a:solidFill>
              </a:rPr>
              <a:t>Diciembre 2025 – Marzo 2026  ·  14 semanas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200400"/>
            <a:ext cx="2194560" cy="118872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2461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E86A1A"/>
                </a:solidFill>
              </a:rPr>
              <a:t>0374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61188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Sistemas
Operativos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37560" y="3200400"/>
            <a:ext cx="2194560" cy="118872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37560" y="32461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E86AB"/>
                </a:solidFill>
              </a:rPr>
              <a:t>0375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361188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Servicios
de Red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52160" y="3200400"/>
            <a:ext cx="2194560" cy="118872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32461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ECC71"/>
                </a:solidFill>
              </a:rPr>
              <a:t>0376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361188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Servidores
Aplicaciones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84632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CCCCCC"/>
                </a:solidFill>
              </a:rPr>
              <a:t>Matias Nicolas Florenttini Gomez  ·  ASIR 2025/2026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8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E8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E8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64592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Actividades Realizadas en Empresa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85800"/>
            <a:ext cx="3200400" cy="36576"/>
          </a:xfrm>
          <a:prstGeom prst="rect">
            <a:avLst/>
          </a:prstGeom>
          <a:solidFill>
            <a:srgbClr val="E8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914400"/>
            <a:ext cx="64008" cy="502920"/>
          </a:xfrm>
          <a:prstGeom prst="rect">
            <a:avLst/>
          </a:prstGeom>
          <a:solidFill>
            <a:srgbClr val="E8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914400"/>
            <a:ext cx="4389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Instalar sistemas operativos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18872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</a:rPr>
              <a:t>Módulo 0374  ·  Instalación y config de SO en entorno real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719072"/>
            <a:ext cx="64008" cy="5029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719072"/>
            <a:ext cx="4389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Administrar usuarios y permisos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1993392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</a:rPr>
              <a:t>Módulo 0374  ·  Gestión de cuentas, grupos y permisos en producción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523744"/>
            <a:ext cx="64008" cy="5029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523744"/>
            <a:ext cx="4389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Configurar servicios de 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2798064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</a:rPr>
              <a:t>Módulo 0375  ·  DNS, DHCP, routing y conectividad corporativa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328416"/>
            <a:ext cx="64008" cy="50292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328416"/>
            <a:ext cx="4389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Configurar servidores Web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3602736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</a:rPr>
              <a:t>Módulo 0375  ·  Despliegue y configuración de Apache/Nginx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4133088"/>
            <a:ext cx="64008" cy="50292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4133088"/>
            <a:ext cx="4389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Instalar servidores de aplicaciones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4407408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</a:rPr>
              <a:t>Módulo 0376  ·  Instalación de servicios en servidor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8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E8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E8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64592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Calendario de Prácticas – 14 Semanas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85800"/>
            <a:ext cx="3200400" cy="36576"/>
          </a:xfrm>
          <a:prstGeom prst="rect">
            <a:avLst/>
          </a:prstGeom>
          <a:solidFill>
            <a:srgbClr val="E8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75488" y="960120"/>
            <a:ext cx="960120" cy="658368"/>
          </a:xfrm>
          <a:prstGeom prst="rect">
            <a:avLst/>
          </a:prstGeom>
          <a:solidFill>
            <a:srgbClr val="E8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996696"/>
            <a:ext cx="960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S1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289304"/>
            <a:ext cx="960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</a:rPr>
              <a:t>02–05 dic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472184" y="960120"/>
            <a:ext cx="960120" cy="658368"/>
          </a:xfrm>
          <a:prstGeom prst="rect">
            <a:avLst/>
          </a:prstGeom>
          <a:solidFill>
            <a:srgbClr val="E8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72184" y="996696"/>
            <a:ext cx="960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S2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72184" y="1289304"/>
            <a:ext cx="960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</a:rPr>
              <a:t>09–12 dic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68880" y="960120"/>
            <a:ext cx="960120" cy="658368"/>
          </a:xfrm>
          <a:prstGeom prst="rect">
            <a:avLst/>
          </a:prstGeom>
          <a:solidFill>
            <a:srgbClr val="E8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68880" y="996696"/>
            <a:ext cx="960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80" y="1289304"/>
            <a:ext cx="960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</a:rPr>
              <a:t>15–19 dic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65576" y="960120"/>
            <a:ext cx="960120" cy="658368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65576" y="996696"/>
            <a:ext cx="960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S4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65576" y="1289304"/>
            <a:ext cx="960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</a:rPr>
              <a:t>08–09 ene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62272" y="960120"/>
            <a:ext cx="960120" cy="658368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62272" y="996696"/>
            <a:ext cx="960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S5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62272" y="1289304"/>
            <a:ext cx="960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</a:rPr>
              <a:t>12–16 ene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58968" y="960120"/>
            <a:ext cx="960120" cy="658368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58968" y="996696"/>
            <a:ext cx="960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S6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58968" y="1289304"/>
            <a:ext cx="960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</a:rPr>
              <a:t>19–23 ene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55664" y="960120"/>
            <a:ext cx="960120" cy="658368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55664" y="996696"/>
            <a:ext cx="960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S7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55664" y="1289304"/>
            <a:ext cx="960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</a:rPr>
              <a:t>26–30 ene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75488" y="1728216"/>
            <a:ext cx="960120" cy="658368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5488" y="1764792"/>
            <a:ext cx="960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S8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5488" y="2057400"/>
            <a:ext cx="960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</a:rPr>
              <a:t>02–06 feb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472184" y="1728216"/>
            <a:ext cx="960120" cy="658368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472184" y="1764792"/>
            <a:ext cx="960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S9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72184" y="2057400"/>
            <a:ext cx="960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</a:rPr>
              <a:t>09–13 feb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468880" y="1728216"/>
            <a:ext cx="960120" cy="658368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468880" y="1764792"/>
            <a:ext cx="960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S10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468880" y="2057400"/>
            <a:ext cx="960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</a:rPr>
              <a:t>16–20 feb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465576" y="1728216"/>
            <a:ext cx="960120" cy="658368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465576" y="1764792"/>
            <a:ext cx="960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S11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465576" y="2057400"/>
            <a:ext cx="960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</a:rPr>
              <a:t>23–27 feb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462272" y="1728216"/>
            <a:ext cx="960120" cy="65836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462272" y="1764792"/>
            <a:ext cx="960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S12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462272" y="2057400"/>
            <a:ext cx="960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</a:rPr>
              <a:t>02–06 mar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58968" y="1728216"/>
            <a:ext cx="960120" cy="65836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58968" y="1764792"/>
            <a:ext cx="960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S13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58968" y="2057400"/>
            <a:ext cx="960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</a:rPr>
              <a:t>09–13 mar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55664" y="1728216"/>
            <a:ext cx="960120" cy="65836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55664" y="1764792"/>
            <a:ext cx="960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S14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55664" y="2057400"/>
            <a:ext cx="960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</a:rPr>
              <a:t>16–18 mar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02920" y="2670048"/>
            <a:ext cx="201168" cy="201168"/>
          </a:xfrm>
          <a:prstGeom prst="rect">
            <a:avLst/>
          </a:prstGeom>
          <a:solidFill>
            <a:srgbClr val="E8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49808" y="26517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CCCC"/>
                </a:solidFill>
              </a:rPr>
              <a:t>Diciembre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103120" y="2670048"/>
            <a:ext cx="201168" cy="201168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350008" y="26517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CCCC"/>
                </a:solidFill>
              </a:rPr>
              <a:t>Enero–Febrero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206240" y="2670048"/>
            <a:ext cx="201168" cy="20116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453128" y="26517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CCCC"/>
                </a:solidFill>
              </a:rPr>
              <a:t>Marzo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02920" y="31089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86A1A"/>
                </a:solidFill>
              </a:rPr>
              <a:t>14 semanas completadas  ·  Módulos 0374, 0375 y 0376 superados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8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E8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E8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64592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Lo que aprendimos en las prácticas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85800"/>
            <a:ext cx="3200400" cy="36576"/>
          </a:xfrm>
          <a:prstGeom prst="rect">
            <a:avLst/>
          </a:prstGeom>
          <a:solidFill>
            <a:srgbClr val="E8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960120"/>
            <a:ext cx="411480" cy="411480"/>
          </a:xfrm>
          <a:prstGeom prst="rect">
            <a:avLst/>
          </a:prstGeom>
          <a:solidFill>
            <a:srgbClr val="E8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996696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960120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Entorno real vs clase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128016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</a:rPr>
              <a:t>En producción los errores tienen consecuencias reales. No hay deshacer.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874520"/>
            <a:ext cx="411480" cy="41148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1911096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" y="1874520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Resolver sin manual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" y="219456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</a:rPr>
              <a:t>Cuando algo falla hay que tirar de lo que sabes y pensar rápido.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2788920"/>
            <a:ext cx="411480" cy="41148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2825496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" y="2788920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Gestión de usuarios real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" y="310896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</a:rPr>
              <a:t>Administrar cuentas de personas que dependen del sistema cada día.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3703320"/>
            <a:ext cx="411480" cy="41148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3739896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" y="3703320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Adaptación profesional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8" y="402336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</a:rPr>
              <a:t>Coordinación con el tutor de empresa y sus procesos y tiempos reales.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4754880"/>
            <a:ext cx="8138160" cy="50292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4846320"/>
            <a:ext cx="7955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2ECC71"/>
                </a:solidFill>
              </a:rPr>
              <a:t>✓  Prácticas completadas  ·  Tutora: Monica Garcia Gomez  ·  Fundación Humana SPES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Proxmox VE – TFG ASIR</dc:title>
  <dc:subject>PptxGenJS Presentation</dc:subject>
  <dc:creator>PptxGenJS</dc:creator>
  <cp:lastModifiedBy>PptxGenJS</cp:lastModifiedBy>
  <cp:revision>1</cp:revision>
  <dcterms:created xsi:type="dcterms:W3CDTF">2026-05-31T17:21:25Z</dcterms:created>
  <dcterms:modified xsi:type="dcterms:W3CDTF">2026-05-31T17:21:25Z</dcterms:modified>
</cp:coreProperties>
</file>