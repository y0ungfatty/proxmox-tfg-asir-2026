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50292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PROXMOX VE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365760" y="141732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 de un Sistema de Virtualización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2194560"/>
            <a:ext cx="5029200" cy="22860"/>
          </a:xfrm>
          <a:prstGeom prst="rect">
            <a:avLst/>
          </a:prstGeom>
          <a:solidFill>
            <a:srgbClr val="A0B4C8"/>
          </a:solidFill>
          <a:ln w="12700">
            <a:solidFill>
              <a:srgbClr val="A0B4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331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de Fin de Ciclo · ASIR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29260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Autores: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54480" y="292608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Santiago Gómez Vacas / Matias Florenttini Gómez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331012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Tutora: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54480" y="331012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Ainara Gómez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369417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Centro: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54480" y="3694176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 LUMARA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407822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54480" y="407822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/ 2026</a:t>
            </a:r>
            <a:endParaRPr lang="en-US" sz="13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054007"/>
            <a:ext cx="3657600" cy="3035486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312664" y="1017431"/>
            <a:ext cx="3730752" cy="3108638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E05A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E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Índice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502920" cy="59436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1051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y motivación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965960"/>
            <a:ext cx="502920" cy="59436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96596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del proyecto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2926080"/>
            <a:ext cx="502920" cy="59436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92608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29718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técnico y arquitectura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3886200"/>
            <a:ext cx="502920" cy="59436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88620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05840" y="39319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 paso a paso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937760" y="1005840"/>
            <a:ext cx="502920" cy="594360"/>
          </a:xfrm>
          <a:prstGeom prst="rect">
            <a:avLst/>
          </a:prstGeom>
          <a:solidFill>
            <a:srgbClr val="1E3A52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100584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577840" y="10515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Incidencias y soluciones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937760" y="1965960"/>
            <a:ext cx="502920" cy="594360"/>
          </a:xfrm>
          <a:prstGeom prst="rect">
            <a:avLst/>
          </a:prstGeom>
          <a:solidFill>
            <a:srgbClr val="1E3A52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196596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577840" y="2011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y resultados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937760" y="2926080"/>
            <a:ext cx="502920" cy="594360"/>
          </a:xfrm>
          <a:prstGeom prst="rect">
            <a:avLst/>
          </a:prstGeom>
          <a:solidFill>
            <a:srgbClr val="1E3A52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292608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577840" y="29718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 · Introducción y Motivación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4206240" cy="38404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Proxmox VE?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Proxmox VE es el hipervisor open-source que se usa en empresas reales: gratuito, potente y con interfaz web completa. Es lo que un sysadmin va a encontrar en su primer trabajo.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VirtualBox?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servidor físico disponible en el laboratorio, Proxmox corre dentro de VirtualBox — una limitación real que también forma parte del aprendizaje.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937760" y="914400"/>
            <a:ext cx="3840480" cy="1828800"/>
          </a:xfrm>
          <a:prstGeom prst="rect">
            <a:avLst/>
          </a:prstGeom>
          <a:solidFill>
            <a:srgbClr val="1E3A52"/>
          </a:solidFill>
          <a:ln w="19050">
            <a:solidFill>
              <a:srgbClr val="E05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37760" y="914400"/>
            <a:ext cx="914400" cy="182880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914400"/>
            <a:ext cx="914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KVM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0" y="1005840"/>
            <a:ext cx="27432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Máquinas virtuales completas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Aislamiento de hardware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Soporta cualquier SO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37760" y="2971800"/>
            <a:ext cx="3840480" cy="1828800"/>
          </a:xfrm>
          <a:prstGeom prst="rect">
            <a:avLst/>
          </a:prstGeom>
          <a:solidFill>
            <a:srgbClr val="1E3A52"/>
          </a:solidFill>
          <a:ln w="19050">
            <a:solidFill>
              <a:srgbClr val="E05A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37760" y="2971800"/>
            <a:ext cx="914400" cy="182880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2971800"/>
            <a:ext cx="914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LXC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0" y="3063240"/>
            <a:ext cx="27432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Contenedores ligeros del kernel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overhead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Perfecto para servicios Linux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937760" y="4983480"/>
            <a:ext cx="3840480" cy="164592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498348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Proxmox VE 9.1 · FP LUMARA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E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 · Objetivos del Proyecto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14800" cy="822960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60120"/>
            <a:ext cx="457200" cy="82296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6012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005840"/>
            <a:ext cx="3429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Instalar Proxmox VE 9.1 en VirtualBox (Debian 64-bit)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965960"/>
            <a:ext cx="4114800" cy="822960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965960"/>
            <a:ext cx="457200" cy="82296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96596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2011680"/>
            <a:ext cx="3429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Configurar red con IP estática, hostname y DNS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0040" y="2971800"/>
            <a:ext cx="4114800" cy="822960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2971800"/>
            <a:ext cx="457200" cy="82296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29718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3017520"/>
            <a:ext cx="3429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Acceder a la interfaz web y gestionar el nodo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0040" y="3977640"/>
            <a:ext cx="4114800" cy="822960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3977640"/>
            <a:ext cx="457200" cy="82296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397764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68680" y="4023360"/>
            <a:ext cx="3429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Subir ISO Ubuntu Server 24.04.3 LTS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54880" y="960120"/>
            <a:ext cx="4114800" cy="822960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54880" y="960120"/>
            <a:ext cx="457200" cy="82296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96012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303520" y="1005840"/>
            <a:ext cx="3429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VM (ID 100): 2 cores, 2 GB RAM, 32 GiB disco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54880" y="1965960"/>
            <a:ext cx="4114800" cy="822960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54880" y="1965960"/>
            <a:ext cx="457200" cy="82296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196596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03520" y="2011680"/>
            <a:ext cx="3429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Instalar Ubuntu Server con cloud-init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754880" y="2971800"/>
            <a:ext cx="4114800" cy="822960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0" y="2971800"/>
            <a:ext cx="457200" cy="82296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29718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303520" y="3017520"/>
            <a:ext cx="3429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 VM operativa: login y estado del sistema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54880" y="4114800"/>
            <a:ext cx="4114800" cy="82296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41148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 de objetivos alcanzados ✓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E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 · Planificación del Proyecto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60520" cy="841248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14400"/>
            <a:ext cx="91440" cy="841248"/>
          </a:xfrm>
          <a:prstGeom prst="rect">
            <a:avLst/>
          </a:prstGeom>
          <a:solidFill>
            <a:srgbClr val="6B8499"/>
          </a:solidFill>
          <a:ln w="12700">
            <a:solidFill>
              <a:srgbClr val="6B84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95097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– Nov 2025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12064" y="129844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Análisis y elección del tema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901952"/>
            <a:ext cx="4160520" cy="841248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901952"/>
            <a:ext cx="91440" cy="841248"/>
          </a:xfrm>
          <a:prstGeom prst="rect">
            <a:avLst/>
          </a:prstGeom>
          <a:solidFill>
            <a:srgbClr val="6B8499"/>
          </a:solidFill>
          <a:ln w="12700">
            <a:solidFill>
              <a:srgbClr val="6B84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" y="193852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– Dic 2025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2064" y="228600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Diseño técnico y arquitectura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0040" y="2889504"/>
            <a:ext cx="4160520" cy="841248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2889504"/>
            <a:ext cx="91440" cy="841248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" y="292608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 2025 – Ene 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12064" y="327355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Entorno base (VirtualBox + ISOs)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0040" y="3877056"/>
            <a:ext cx="4160520" cy="841248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3877056"/>
            <a:ext cx="91440" cy="841248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064" y="39136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 – Feb 2026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12064" y="4261104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Instalación Proxmox VE 9.1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54880" y="914400"/>
            <a:ext cx="4069080" cy="841248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54880" y="914400"/>
            <a:ext cx="91440" cy="841248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95097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– Mar 2026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37760" y="129844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VM Ubuntu + cloud-init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54880" y="1901952"/>
            <a:ext cx="4069080" cy="841248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54880" y="1901952"/>
            <a:ext cx="91440" cy="841248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193852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– Abr 2026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37760" y="2286000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Pruebas e incidencias reales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754880" y="2889504"/>
            <a:ext cx="4069080" cy="841248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0" y="2889504"/>
            <a:ext cx="91440" cy="84124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37760" y="292608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 – May 2026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37760" y="327355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Documentación y memoria técnica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54880" y="3877056"/>
            <a:ext cx="4069080" cy="841248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54880" y="3877056"/>
            <a:ext cx="91440" cy="84124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37760" y="391363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 2026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37760" y="426110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Defensa oral ante el tribunal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818120" y="4059936"/>
            <a:ext cx="868680" cy="420624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818120" y="40599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← hoy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20040" y="4873752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Mayor desvío: INC-02 (error KVM) retrasó ~1 semana el margen de documentación.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 · Diseño Técnico y Arquitectura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5029200" cy="822960"/>
          </a:xfrm>
          <a:prstGeom prst="rect">
            <a:avLst/>
          </a:prstGeom>
          <a:solidFill>
            <a:srgbClr val="1E3A52"/>
          </a:solidFill>
          <a:ln w="254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4183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VM Ubuntu Server 24.04.3 LTS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31673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100 · 2 cores · 2 GB RAM · 32 GiB SCSI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901952"/>
            <a:ext cx="5029200" cy="822960"/>
          </a:xfrm>
          <a:prstGeom prst="rect">
            <a:avLst/>
          </a:prstGeom>
          <a:solidFill>
            <a:srgbClr val="153045"/>
          </a:solidFill>
          <a:ln w="25400">
            <a:solidFill>
              <a:srgbClr val="E05A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92938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Proxmox VE 9.1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3042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KVM + LXC · Web UI https://10.10.102.206:8006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889504"/>
            <a:ext cx="5029200" cy="822960"/>
          </a:xfrm>
          <a:prstGeom prst="rect">
            <a:avLst/>
          </a:prstGeom>
          <a:solidFill>
            <a:srgbClr val="0D1B2A"/>
          </a:solidFill>
          <a:ln w="25400">
            <a:solidFill>
              <a:srgbClr val="A0B4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91693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VirtualBox (Debian 64-bit)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" y="32918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GB RAM · 60 GB VDI · Bridge Adapter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877056"/>
            <a:ext cx="5029200" cy="822960"/>
          </a:xfrm>
          <a:prstGeom prst="rect">
            <a:avLst/>
          </a:prstGeom>
          <a:solidFill>
            <a:srgbClr val="060D14"/>
          </a:solidFill>
          <a:ln w="25400">
            <a:solidFill>
              <a:srgbClr val="6B84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90448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Host Físico (Windows)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427939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de laboratorio · FP LUMARA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463040" y="1892808"/>
            <a:ext cx="54864" cy="9144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63040" y="2880360"/>
            <a:ext cx="54864" cy="9144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63040" y="3867912"/>
            <a:ext cx="54864" cy="9144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914400"/>
            <a:ext cx="3063240" cy="4114800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0" y="9144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Especificaciones VM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760720" y="1325880"/>
            <a:ext cx="3063240" cy="338328"/>
          </a:xfrm>
          <a:prstGeom prst="rect">
            <a:avLst/>
          </a:prstGeom>
          <a:solidFill>
            <a:srgbClr val="1E3A52"/>
          </a:solidFill>
          <a:ln w="3810">
            <a:solidFill>
              <a:srgbClr val="6B84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06440" y="1344168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ID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5160" y="1344168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60720" y="1664208"/>
            <a:ext cx="3063240" cy="338328"/>
          </a:xfrm>
          <a:prstGeom prst="rect">
            <a:avLst/>
          </a:prstGeom>
          <a:solidFill>
            <a:srgbClr val="0D1B2A"/>
          </a:solidFill>
          <a:ln w="3810">
            <a:solidFill>
              <a:srgbClr val="6B84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06440" y="1682496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95160" y="1682496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cores QEMU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760720" y="2002536"/>
            <a:ext cx="3063240" cy="338328"/>
          </a:xfrm>
          <a:prstGeom prst="rect">
            <a:avLst/>
          </a:prstGeom>
          <a:solidFill>
            <a:srgbClr val="1E3A52"/>
          </a:solidFill>
          <a:ln w="3810">
            <a:solidFill>
              <a:srgbClr val="6B84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06440" y="2020824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95160" y="2020824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2048 MB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760720" y="2340864"/>
            <a:ext cx="3063240" cy="338328"/>
          </a:xfrm>
          <a:prstGeom prst="rect">
            <a:avLst/>
          </a:prstGeom>
          <a:solidFill>
            <a:srgbClr val="0D1B2A"/>
          </a:solidFill>
          <a:ln w="3810">
            <a:solidFill>
              <a:srgbClr val="6B84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06440" y="2359152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95160" y="2359152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GiB SCSI VirtIO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760720" y="2679192"/>
            <a:ext cx="3063240" cy="338328"/>
          </a:xfrm>
          <a:prstGeom prst="rect">
            <a:avLst/>
          </a:prstGeom>
          <a:solidFill>
            <a:srgbClr val="1E3A52"/>
          </a:solidFill>
          <a:ln w="3810">
            <a:solidFill>
              <a:srgbClr val="6B849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06440" y="2697480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95160" y="2697480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virtio · vmbr0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760720" y="3017520"/>
            <a:ext cx="3063240" cy="338328"/>
          </a:xfrm>
          <a:prstGeom prst="rect">
            <a:avLst/>
          </a:prstGeom>
          <a:solidFill>
            <a:srgbClr val="0D1B2A"/>
          </a:solidFill>
          <a:ln w="3810">
            <a:solidFill>
              <a:srgbClr val="6B849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06440" y="3035808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nodo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95160" y="3035808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10.10.102.206/16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760720" y="3355848"/>
            <a:ext cx="3063240" cy="338328"/>
          </a:xfrm>
          <a:prstGeom prst="rect">
            <a:avLst/>
          </a:prstGeom>
          <a:solidFill>
            <a:srgbClr val="1E3A52"/>
          </a:solidFill>
          <a:ln w="3810">
            <a:solidFill>
              <a:srgbClr val="6B84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06440" y="3374136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995160" y="3374136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Ubuntu 24.04.3 LTS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760720" y="3694176"/>
            <a:ext cx="3063240" cy="338328"/>
          </a:xfrm>
          <a:prstGeom prst="rect">
            <a:avLst/>
          </a:prstGeom>
          <a:solidFill>
            <a:srgbClr val="0D1B2A"/>
          </a:solidFill>
          <a:ln w="3810">
            <a:solidFill>
              <a:srgbClr val="6B849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06440" y="3712464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995160" y="3712464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6.8.0-71-generic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E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 · Implementación · Fase 1: Preparar VirtualBox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65176" y="813816"/>
            <a:ext cx="2761488" cy="2670048"/>
          </a:xfrm>
          <a:prstGeom prst="rect">
            <a:avLst/>
          </a:prstGeom>
          <a:solidFill>
            <a:srgbClr val="0D1B2A"/>
          </a:solidFill>
          <a:ln w="12700">
            <a:solidFill>
              <a:srgbClr val="E05A0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868680"/>
            <a:ext cx="2651760" cy="2560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3474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1 · VM: Proxmoxx – Debian 64-bit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145536" y="813816"/>
            <a:ext cx="2761488" cy="2670048"/>
          </a:xfrm>
          <a:prstGeom prst="rect">
            <a:avLst/>
          </a:prstGeom>
          <a:solidFill>
            <a:srgbClr val="0D1B2A"/>
          </a:solidFill>
          <a:ln w="12700">
            <a:solidFill>
              <a:srgbClr val="E05A0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0" y="868680"/>
            <a:ext cx="2651760" cy="2560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200400" y="3474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2 · 4096 MB RAM · 1 CPU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6025896" y="813816"/>
            <a:ext cx="2761488" cy="2670048"/>
          </a:xfrm>
          <a:prstGeom prst="rect">
            <a:avLst/>
          </a:prstGeom>
          <a:solidFill>
            <a:srgbClr val="0D1B2A"/>
          </a:solidFill>
          <a:ln w="12700">
            <a:solidFill>
              <a:srgbClr val="E05A00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0760" y="868680"/>
            <a:ext cx="2651760" cy="2560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080760" y="3474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3 · Disco VDI 60 GB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320040" y="3840480"/>
            <a:ext cx="8503920" cy="1051560"/>
          </a:xfrm>
          <a:prstGeom prst="rect">
            <a:avLst/>
          </a:prstGeom>
          <a:solidFill>
            <a:srgbClr val="1E3A52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320040" y="3840480"/>
            <a:ext cx="109728" cy="105156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548640" y="3840480"/>
            <a:ext cx="8229600" cy="105156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Clave: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en modo Adaptador Puente — sin esto, la interfaz web de Proxmox no es accesible desde el equipo anfitrión. Con NAT la VM queda aislada.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 · Implementación · Fase 2: Instalar Proxmox VE 9.1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133088" cy="3950208"/>
          </a:xfrm>
          <a:prstGeom prst="rect">
            <a:avLst/>
          </a:prstGeom>
          <a:solidFill>
            <a:srgbClr val="0D1B2A"/>
          </a:solidFill>
          <a:ln w="19050">
            <a:solidFill>
              <a:srgbClr val="E05A0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9184" y="923544"/>
            <a:ext cx="4023360" cy="3840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17720" y="914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Pasos del instalador: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617720" y="1371600"/>
            <a:ext cx="4206240" cy="493776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617720" y="1371600"/>
            <a:ext cx="73152" cy="493776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73168" y="1371600"/>
            <a:ext cx="397764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Disco: /dev/sda (60 GiB VBOX HARDDISK)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17720" y="1938528"/>
            <a:ext cx="4206240" cy="493776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17720" y="1938528"/>
            <a:ext cx="73152" cy="493776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73168" y="1938528"/>
            <a:ext cx="397764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País: Spain / Europe/Madrid / Español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17720" y="2505456"/>
            <a:ext cx="4206240" cy="493776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17720" y="2505456"/>
            <a:ext cx="73152" cy="493776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73168" y="2505456"/>
            <a:ext cx="397764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Contraseña root + email alertas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617720" y="3072384"/>
            <a:ext cx="4206240" cy="493776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617720" y="3072384"/>
            <a:ext cx="73152" cy="493776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773168" y="3072384"/>
            <a:ext cx="397764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IP: 10.10.102.206/16  GW: 10.10.0.1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17720" y="3639312"/>
            <a:ext cx="4206240" cy="493776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17720" y="3639312"/>
            <a:ext cx="73152" cy="493776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73168" y="3639312"/>
            <a:ext cx="397764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Hostname: pve.summa.local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617720" y="4206240"/>
            <a:ext cx="4206240" cy="493776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617720" y="4206240"/>
            <a:ext cx="73152" cy="493776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773168" y="4206240"/>
            <a:ext cx="397764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→ instalar → reiniciar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E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Instalación Proxmox VE – Capturas del proceso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28600" y="731520"/>
            <a:ext cx="2834640" cy="1920240"/>
          </a:xfrm>
          <a:prstGeom prst="rect">
            <a:avLst/>
          </a:prstGeom>
          <a:solidFill>
            <a:srgbClr val="0D1B2A"/>
          </a:solidFill>
          <a:ln w="6350">
            <a:solidFill>
              <a:srgbClr val="6B849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777240"/>
            <a:ext cx="2743200" cy="1828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5 · Aviso KVM (VirtualBox)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154680" y="731520"/>
            <a:ext cx="2834640" cy="1920240"/>
          </a:xfrm>
          <a:prstGeom prst="rect">
            <a:avLst/>
          </a:prstGeom>
          <a:solidFill>
            <a:srgbClr val="0D1B2A"/>
          </a:solidFill>
          <a:ln w="6350">
            <a:solidFill>
              <a:srgbClr val="6B8499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0" y="777240"/>
            <a:ext cx="2743200" cy="1828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2004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6 · Disco destino /dev/sda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080760" y="731520"/>
            <a:ext cx="2834640" cy="1920240"/>
          </a:xfrm>
          <a:prstGeom prst="rect">
            <a:avLst/>
          </a:prstGeom>
          <a:solidFill>
            <a:srgbClr val="0D1B2A"/>
          </a:solidFill>
          <a:ln w="6350">
            <a:solidFill>
              <a:srgbClr val="6B8499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777240"/>
            <a:ext cx="2743200" cy="18288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12648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7 · Localización Spain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228600" y="2834640"/>
            <a:ext cx="2834640" cy="1920240"/>
          </a:xfrm>
          <a:prstGeom prst="rect">
            <a:avLst/>
          </a:prstGeom>
          <a:solidFill>
            <a:srgbClr val="0D1B2A"/>
          </a:solidFill>
          <a:ln w="6350">
            <a:solidFill>
              <a:srgbClr val="6B8499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74320" y="2880360"/>
            <a:ext cx="2743200" cy="18288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27432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8 · Contraseña root</a:t>
            </a:r>
            <a:endParaRPr lang="en-US" sz="900" dirty="0"/>
          </a:p>
        </p:txBody>
      </p:sp>
      <p:sp>
        <p:nvSpPr>
          <p:cNvPr id="16" name="Shape 10"/>
          <p:cNvSpPr/>
          <p:nvPr/>
        </p:nvSpPr>
        <p:spPr>
          <a:xfrm>
            <a:off x="3154680" y="2834640"/>
            <a:ext cx="2834640" cy="1920240"/>
          </a:xfrm>
          <a:prstGeom prst="rect">
            <a:avLst/>
          </a:prstGeom>
          <a:solidFill>
            <a:srgbClr val="0D1B2A"/>
          </a:solidFill>
          <a:ln w="6350">
            <a:solidFill>
              <a:srgbClr val="6B8499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200400" y="2880360"/>
            <a:ext cx="2743200" cy="18288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20040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9 · Configuración red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6080760" y="2834640"/>
            <a:ext cx="2834640" cy="1920240"/>
          </a:xfrm>
          <a:prstGeom prst="rect">
            <a:avLst/>
          </a:prstGeom>
          <a:solidFill>
            <a:srgbClr val="0D1B2A"/>
          </a:solidFill>
          <a:ln w="6350">
            <a:solidFill>
              <a:srgbClr val="6B8499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126480" y="2880360"/>
            <a:ext cx="2743200" cy="18288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12648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10 · Resumen instalación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 · Implementación · Fase 3: Interfaz Web de Proxmox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5394960" cy="3931920"/>
          </a:xfrm>
          <a:prstGeom prst="rect">
            <a:avLst/>
          </a:prstGeom>
          <a:solidFill>
            <a:srgbClr val="0D1B2A"/>
          </a:solidFill>
          <a:ln w="19050">
            <a:solidFill>
              <a:srgbClr val="E05A0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960120"/>
            <a:ext cx="5303520" cy="3840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0" y="960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encontramos dentro: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852160" y="1417320"/>
            <a:ext cx="3017520" cy="731520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852160" y="1417320"/>
            <a:ext cx="731520" cy="731520"/>
          </a:xfrm>
          <a:prstGeom prst="ellipse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52160" y="1417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675120" y="1463040"/>
            <a:ext cx="21031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Acceso: https://10.10.102.206:8006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852160" y="2286000"/>
            <a:ext cx="3017520" cy="731520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852160" y="2286000"/>
            <a:ext cx="731520" cy="731520"/>
          </a:xfrm>
          <a:prstGeom prst="ellipse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5216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675120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Login: root · Autenticación Linux PAM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852160" y="3154680"/>
            <a:ext cx="3017520" cy="731520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852160" y="3154680"/>
            <a:ext cx="731520" cy="731520"/>
          </a:xfrm>
          <a:prstGeom prst="ellipse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5216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675120" y="3200400"/>
            <a:ext cx="21031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Dashboard: nodo pve, local, local-lvm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852160" y="4023360"/>
            <a:ext cx="3017520" cy="731520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852160" y="4023360"/>
            <a:ext cx="731520" cy="731520"/>
          </a:xfrm>
          <a:prstGeom prst="ellipse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52160" y="4023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675120" y="4069080"/>
            <a:ext cx="21031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Menú nodo: Red, DNS, Certs, Cortafuego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274320" y="4754880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13 · Dashboard con menú del nodo desplegado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E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 · Implementación · Fase 4: Subir ISO y Crear VM 100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65176" y="813816"/>
            <a:ext cx="4270248" cy="1938528"/>
          </a:xfrm>
          <a:prstGeom prst="rect">
            <a:avLst/>
          </a:prstGeom>
          <a:solidFill>
            <a:srgbClr val="0D1B2A"/>
          </a:solidFill>
          <a:ln w="6350">
            <a:solidFill>
              <a:srgbClr val="6B849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868680"/>
            <a:ext cx="4160520" cy="1828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269748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17 · ISO Images – antes de subir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700016" y="813816"/>
            <a:ext cx="4270248" cy="1938528"/>
          </a:xfrm>
          <a:prstGeom prst="rect">
            <a:avLst/>
          </a:prstGeom>
          <a:solidFill>
            <a:srgbClr val="0D1B2A"/>
          </a:solidFill>
          <a:ln w="6350">
            <a:solidFill>
              <a:srgbClr val="6B8499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868680"/>
            <a:ext cx="4160520" cy="1828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754880" y="269748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19 · Asistente General: ID 100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265176" y="2916936"/>
            <a:ext cx="4270248" cy="1938528"/>
          </a:xfrm>
          <a:prstGeom prst="rect">
            <a:avLst/>
          </a:prstGeom>
          <a:solidFill>
            <a:srgbClr val="0D1B2A"/>
          </a:solidFill>
          <a:ln w="6350">
            <a:solidFill>
              <a:srgbClr val="6B8499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0040" y="2971800"/>
            <a:ext cx="4160520" cy="18288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20040" y="480060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21 · Disco: SCSI 32 GiB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4700016" y="2916936"/>
            <a:ext cx="4270248" cy="1938528"/>
          </a:xfrm>
          <a:prstGeom prst="rect">
            <a:avLst/>
          </a:prstGeom>
          <a:solidFill>
            <a:srgbClr val="0D1B2A"/>
          </a:solidFill>
          <a:ln w="6350">
            <a:solidFill>
              <a:srgbClr val="6B8499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54880" y="2971800"/>
            <a:ext cx="4160520" cy="18288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754880" y="480060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22 · Confirmar configuración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 · Implementación · Fase 5: Instalar Ubuntu Server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114800" cy="1188720"/>
          </a:xfrm>
          <a:prstGeom prst="rect">
            <a:avLst/>
          </a:prstGeom>
          <a:solidFill>
            <a:srgbClr val="1A2E44"/>
          </a:solidFill>
          <a:ln w="6350">
            <a:solidFill>
              <a:srgbClr val="6B849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114800" cy="11887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205740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24 · GRUB Ubuntu en consola noVNC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274320" y="2258568"/>
            <a:ext cx="4114800" cy="1188720"/>
          </a:xfrm>
          <a:prstGeom prst="rect">
            <a:avLst/>
          </a:prstGeom>
          <a:solidFill>
            <a:srgbClr val="1A2E44"/>
          </a:solidFill>
          <a:ln w="6350">
            <a:solidFill>
              <a:srgbClr val="6B8499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2258568"/>
            <a:ext cx="4114800" cy="1188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74320" y="3447288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26 · Instalador – idioma Español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274320" y="3648456"/>
            <a:ext cx="4114800" cy="1188720"/>
          </a:xfrm>
          <a:prstGeom prst="rect">
            <a:avLst/>
          </a:prstGeom>
          <a:solidFill>
            <a:srgbClr val="1A2E44"/>
          </a:solidFill>
          <a:ln w="6350">
            <a:solidFill>
              <a:srgbClr val="6B8499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74320" y="3648456"/>
            <a:ext cx="4114800" cy="11887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74320" y="4837176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27 · Installation complete!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4663440" y="914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hace el instalador: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663440" y="1371600"/>
            <a:ext cx="4114800" cy="493776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663440" y="1371600"/>
            <a:ext cx="73152" cy="493776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4828032" y="1371600"/>
            <a:ext cx="388620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Arranque desde ISO Ubuntu Server en consola noVNC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663440" y="1938528"/>
            <a:ext cx="4114800" cy="493776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663440" y="1938528"/>
            <a:ext cx="73152" cy="493776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828032" y="1938528"/>
            <a:ext cx="388620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Idioma: Español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663440" y="2505456"/>
            <a:ext cx="4114800" cy="493776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663440" y="2505456"/>
            <a:ext cx="73152" cy="493776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032" y="2505456"/>
            <a:ext cx="388620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Particionado automático con LVM (32 GiB completos)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663440" y="3072384"/>
            <a:ext cx="4114800" cy="493776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663440" y="3072384"/>
            <a:ext cx="73152" cy="493776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4828032" y="3072384"/>
            <a:ext cx="388620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Usuario: matias · OpenSSH Server activado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4663440" y="3639312"/>
            <a:ext cx="4114800" cy="493776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663440" y="3639312"/>
            <a:ext cx="73152" cy="493776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4828032" y="3639312"/>
            <a:ext cx="388620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Cloud-init activado para aprovisionamiento automático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4663440" y="4206240"/>
            <a:ext cx="4114800" cy="493776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4663440" y="4206240"/>
            <a:ext cx="73152" cy="493776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4828032" y="4206240"/>
            <a:ext cx="388620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Installation complete! → Retirar ISO → Reiniciar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E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 · Implementación · Fase 6: VM Operativa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8595360" cy="3383280"/>
          </a:xfrm>
          <a:prstGeom prst="rect">
            <a:avLst/>
          </a:prstGeom>
          <a:solidFill>
            <a:srgbClr val="0D1B2A"/>
          </a:solidFill>
          <a:ln w="19050">
            <a:solidFill>
              <a:srgbClr val="2ECC7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868680"/>
            <a:ext cx="850392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4206240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28 · Cloud-init completado: claves SSH generadas, usuario matias configurado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20040" y="4526280"/>
            <a:ext cx="2011680" cy="502920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45262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20040" y="47548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6.8.0-71-generic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68880" y="4526280"/>
            <a:ext cx="2011680" cy="502920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68880" y="45262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468880" y="47548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43.4% uso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617720" y="4526280"/>
            <a:ext cx="2011680" cy="502920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17720" y="45262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Carga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617720" y="47548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0.82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766560" y="4526280"/>
            <a:ext cx="2011680" cy="502920"/>
          </a:xfrm>
          <a:prstGeom prst="rect">
            <a:avLst/>
          </a:prstGeom>
          <a:solidFill>
            <a:srgbClr val="2ECC71"/>
          </a:solidFill>
          <a:ln w="6350">
            <a:solidFill>
              <a:srgbClr val="2ECC7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45262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766560" y="47548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OPERATIVA ✓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VM Ubuntu 24.04.3 LTS – Login y verificación final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128016" y="722376"/>
            <a:ext cx="2944368" cy="4041648"/>
          </a:xfrm>
          <a:prstGeom prst="rect">
            <a:avLst/>
          </a:prstGeom>
          <a:solidFill>
            <a:srgbClr val="1A2E44"/>
          </a:solidFill>
          <a:ln w="19050">
            <a:solidFill>
              <a:srgbClr val="E05A0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777240"/>
            <a:ext cx="2834640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" y="47548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28 · Cloud-init + claves SSH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118104" y="722376"/>
            <a:ext cx="2944368" cy="4041648"/>
          </a:xfrm>
          <a:prstGeom prst="rect">
            <a:avLst/>
          </a:prstGeom>
          <a:solidFill>
            <a:srgbClr val="1A2E44"/>
          </a:solidFill>
          <a:ln w="19050">
            <a:solidFill>
              <a:srgbClr val="E05A0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72968" y="777240"/>
            <a:ext cx="2834640" cy="3931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172968" y="47548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29 · Login usuario matias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108192" y="722376"/>
            <a:ext cx="2944368" cy="4041648"/>
          </a:xfrm>
          <a:prstGeom prst="rect">
            <a:avLst/>
          </a:prstGeom>
          <a:solidFill>
            <a:srgbClr val="1A2E44"/>
          </a:solidFill>
          <a:ln w="19050">
            <a:solidFill>
              <a:srgbClr val="2ECC71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63056" y="777240"/>
            <a:ext cx="2834640" cy="39319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163056" y="47548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30 · Sistema operativo funcionando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E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 · Incidencias Reales y Cómo se Resolvieron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1920240"/>
          </a:xfrm>
          <a:prstGeom prst="rect">
            <a:avLst/>
          </a:prstGeom>
          <a:solidFill>
            <a:srgbClr val="1E3A52"/>
          </a:solidFill>
          <a:ln w="19050">
            <a:solidFill>
              <a:srgbClr val="F39C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14400"/>
            <a:ext cx="128016" cy="1920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96012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9C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INC-01 · Sin aceleración KVM en VirtualBox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307592"/>
            <a:ext cx="790956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VirtualBox no expone VT-x/AMD-V al sistema invitado por defecto.
</a:t>
            </a:r>
            <a:pPr indent="0" marL="0">
              <a:buNone/>
            </a:pPr>
            <a:r>
              <a:rPr lang="en-US" sz="1200" b="1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instalador de Proxmox muestra el aviso 'No support for hardware-accelerated KVM virtualization detected'.
</a:t>
            </a:r>
            <a:pPr indent="0" marL="0">
              <a:buNone/>
            </a:pPr>
            <a:r>
              <a:rPr lang="en-US" sz="1200" b="1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Solución: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Aceptar el aviso y continuar en modo emulación QEMU. Funciona para laboratorio.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2971800"/>
            <a:ext cx="8503920" cy="1920240"/>
          </a:xfrm>
          <a:prstGeom prst="rect">
            <a:avLst/>
          </a:prstGeom>
          <a:solidFill>
            <a:srgbClr val="1E3A52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971800"/>
            <a:ext cx="128016" cy="19202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01752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74C3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INC-02 · Error al iniciar la VM: KVM not available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3364992"/>
            <a:ext cx="790956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asistente crea VMs con KVM activo por defecto, pero KVM no está disponible en VirtualBox anidado.
</a:t>
            </a:r>
            <a:pPr indent="0" marL="0">
              <a:buNone/>
            </a:pPr>
            <a:r>
              <a:rPr lang="en-US" sz="1200" b="1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'Error: KVM virtualisation configured, but not available' → la VM no arranca.
</a:t>
            </a:r>
            <a:pPr indent="0" marL="0">
              <a:buNone/>
            </a:pPr>
            <a:r>
              <a:rPr lang="en-US" sz="1200" b="1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Solución: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→ Procesador → cambiar tipo CPU a x86-64-v2-AES en modo QEMU. VM arranca perfectamente.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 · Pruebas y Validación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457200"/>
          </a:xfrm>
          <a:prstGeom prst="rect">
            <a:avLst/>
          </a:prstGeom>
          <a:solidFill>
            <a:srgbClr val="1E3A52"/>
          </a:solidFill>
          <a:ln w="3810">
            <a:solidFill>
              <a:srgbClr val="6B84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418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PR-01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34440" y="94183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Instalación PVE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26080" y="94183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Proxmox VE 9.1 instalado y arrancado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955280" y="978408"/>
            <a:ext cx="777240" cy="329184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0" y="97840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PASS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8503920" cy="457200"/>
          </a:xfrm>
          <a:prstGeom prst="rect">
            <a:avLst/>
          </a:prstGeom>
          <a:solidFill>
            <a:srgbClr val="0D1B2A"/>
          </a:solidFill>
          <a:ln w="3810">
            <a:solidFill>
              <a:srgbClr val="6B84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44475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PR-02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34440" y="144475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web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144475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root en https://10.10.102.206:8006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481328"/>
            <a:ext cx="777240" cy="329184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0" y="14813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PASS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1920240"/>
            <a:ext cx="8503920" cy="457200"/>
          </a:xfrm>
          <a:prstGeom prst="rect">
            <a:avLst/>
          </a:prstGeom>
          <a:solidFill>
            <a:srgbClr val="1E3A52"/>
          </a:solidFill>
          <a:ln w="3810">
            <a:solidFill>
              <a:srgbClr val="6B84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94767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PR-03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34440" y="19476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Subida ISO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926080" y="194767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ubuntu-24.04.3 (3.08 GiB) subida al nodo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55280" y="1984248"/>
            <a:ext cx="777240" cy="329184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0" y="198424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PASS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2423160"/>
            <a:ext cx="8503920" cy="457200"/>
          </a:xfrm>
          <a:prstGeom prst="rect">
            <a:avLst/>
          </a:prstGeom>
          <a:solidFill>
            <a:srgbClr val="0D1B2A"/>
          </a:solidFill>
          <a:ln w="3810">
            <a:solidFill>
              <a:srgbClr val="6B84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4505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PR-04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34440" y="245059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VM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92608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100 creada con asistente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955280" y="2487168"/>
            <a:ext cx="777240" cy="329184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55280" y="248716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PASS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0040" y="2926080"/>
            <a:ext cx="8503920" cy="457200"/>
          </a:xfrm>
          <a:prstGeom prst="rect">
            <a:avLst/>
          </a:prstGeom>
          <a:solidFill>
            <a:srgbClr val="1E3A52"/>
          </a:solidFill>
          <a:ln w="3810">
            <a:solidFill>
              <a:srgbClr val="6B84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95351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PR-05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234440" y="295351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Arranque VM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926080" y="295351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GRUB Ubuntu visible en consola noVNC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55280" y="2990088"/>
            <a:ext cx="777240" cy="329184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955280" y="299008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PASS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20040" y="3429000"/>
            <a:ext cx="8503920" cy="457200"/>
          </a:xfrm>
          <a:prstGeom prst="rect">
            <a:avLst/>
          </a:prstGeom>
          <a:solidFill>
            <a:srgbClr val="0D1B2A"/>
          </a:solidFill>
          <a:ln w="3810">
            <a:solidFill>
              <a:srgbClr val="6B849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4564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PR-06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234440" y="345643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Instalación Ubuntu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926080" y="345643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'Installation complete!'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955280" y="3493008"/>
            <a:ext cx="777240" cy="329184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55280" y="349300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PASS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20040" y="3931920"/>
            <a:ext cx="8503920" cy="457200"/>
          </a:xfrm>
          <a:prstGeom prst="rect">
            <a:avLst/>
          </a:prstGeom>
          <a:solidFill>
            <a:srgbClr val="1E3A52"/>
          </a:solidFill>
          <a:ln w="3810">
            <a:solidFill>
              <a:srgbClr val="6B849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395935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PR-07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234440" y="395935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Cloud-init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926080" y="395935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Claves SSH generadas al primer arranque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955280" y="3995928"/>
            <a:ext cx="777240" cy="329184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55280" y="39959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20040" y="4434840"/>
            <a:ext cx="8503920" cy="457200"/>
          </a:xfrm>
          <a:prstGeom prst="rect">
            <a:avLst/>
          </a:prstGeom>
          <a:solidFill>
            <a:srgbClr val="0D1B2A"/>
          </a:solidFill>
          <a:ln w="3810">
            <a:solidFill>
              <a:srgbClr val="6B849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46227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PR-08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234440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VM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2926080" y="446227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Ubuntu 24.04.3 + shell matias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955280" y="4498848"/>
            <a:ext cx="777240" cy="329184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955280" y="449884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20040" y="4956048"/>
            <a:ext cx="8503920" cy="0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Resultado Final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920240" cy="2103120"/>
          </a:xfrm>
          <a:prstGeom prst="rect">
            <a:avLst/>
          </a:prstGeom>
          <a:solidFill>
            <a:srgbClr val="1E3A52"/>
          </a:solidFill>
          <a:ln w="254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ECC7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8/8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superadas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06040" y="960120"/>
            <a:ext cx="1920240" cy="2103120"/>
          </a:xfrm>
          <a:prstGeom prst="rect">
            <a:avLst/>
          </a:prstGeom>
          <a:solidFill>
            <a:srgbClr val="1E3A52"/>
          </a:solidFill>
          <a:ln w="25400">
            <a:solidFill>
              <a:srgbClr val="E05A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10058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2606040" y="21945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alcanzados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960120"/>
            <a:ext cx="1920240" cy="2103120"/>
          </a:xfrm>
          <a:prstGeom prst="rect">
            <a:avLst/>
          </a:prstGeom>
          <a:solidFill>
            <a:srgbClr val="1E3A52"/>
          </a:solidFill>
          <a:ln w="25400">
            <a:solidFill>
              <a:srgbClr val="F39C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10058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39C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4754880" y="21945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Incidencias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resueltas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903720" y="960120"/>
            <a:ext cx="1920240" cy="2103120"/>
          </a:xfrm>
          <a:prstGeom prst="rect">
            <a:avLst/>
          </a:prstGeom>
          <a:solidFill>
            <a:srgbClr val="1E3A52"/>
          </a:solidFill>
          <a:ln w="25400">
            <a:solidFill>
              <a:srgbClr val="A0B4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03720" y="10058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A0B4C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6903720" y="21945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documentadas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0040" y="3218688"/>
            <a:ext cx="8503920" cy="1828800"/>
          </a:xfrm>
          <a:prstGeom prst="rect">
            <a:avLst/>
          </a:prstGeom>
          <a:solidFill>
            <a:srgbClr val="1A2E44"/>
          </a:solidFill>
          <a:ln w="19050">
            <a:solidFill>
              <a:srgbClr val="2ECC7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3218688"/>
            <a:ext cx="8503920" cy="182880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320040" y="505663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30 · Ubuntu 24.04.3 LTS operativa: carga 0.82 · 43.4% disco · kernel 6.8.0-71-generic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2E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 · Conclusiones y Aprendizajes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20040" y="914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aprendimos de verdad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371600"/>
            <a:ext cx="4114800" cy="713232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371600"/>
            <a:ext cx="73152" cy="713232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371600"/>
            <a:ext cx="3840480" cy="7132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Instalar y configurar Proxmox VE desde cero en un entorno no ideal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2176272"/>
            <a:ext cx="4114800" cy="713232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76272"/>
            <a:ext cx="73152" cy="713232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176272"/>
            <a:ext cx="3840480" cy="7132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 práctica entre hipervisor tipo 1 y tipo 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2980944"/>
            <a:ext cx="4114800" cy="713232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2980944"/>
            <a:ext cx="73152" cy="713232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980944"/>
            <a:ext cx="3840480" cy="7132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de errores KVM: leer logs, entender el porqué, corregir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3785616"/>
            <a:ext cx="4114800" cy="713232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3785616"/>
            <a:ext cx="73152" cy="713232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785616"/>
            <a:ext cx="3840480" cy="7132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Cloud-init: aprovisionamiento automático de usuarios y SSH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914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Dónde están los límites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92040" y="1371600"/>
            <a:ext cx="4114800" cy="713232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92040" y="1371600"/>
            <a:ext cx="73152" cy="713232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56632" y="1371600"/>
            <a:ext cx="3840480" cy="7132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hardware físico: sin KVM real, sin Ceph, sin HA real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892040" y="2176272"/>
            <a:ext cx="4114800" cy="713232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92040" y="2176272"/>
            <a:ext cx="73152" cy="713232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56632" y="2176272"/>
            <a:ext cx="3840480" cy="7132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Rendimiento limitado por emulación QEMU sobre VirtualBox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92040" y="2980944"/>
            <a:ext cx="4114800" cy="713232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92040" y="2980944"/>
            <a:ext cx="73152" cy="713232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56632" y="2980944"/>
            <a:ext cx="3840480" cy="7132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paso natural: Proxmox en bare-metal + clúster 3 nodos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05A00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Gracias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1783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vuestra atención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4572000" cy="22860"/>
          </a:xfrm>
          <a:prstGeom prst="rect">
            <a:avLst/>
          </a:prstGeom>
          <a:solidFill>
            <a:srgbClr val="A0B4C8"/>
          </a:solidFill>
          <a:ln w="12700">
            <a:solidFill>
              <a:srgbClr val="A0B4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606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Santiago Gómez Vacas
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Matias Florenttini Gómez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4747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Tutora: Ainara Gómez · FP LUMARA · ASIR 2025/2026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248656" y="1577232"/>
            <a:ext cx="3767328" cy="1989037"/>
          </a:xfrm>
          <a:prstGeom prst="rect">
            <a:avLst/>
          </a:prstGeom>
          <a:solidFill>
            <a:srgbClr val="0D1B2A"/>
          </a:solidFill>
          <a:ln w="19050">
            <a:solidFill>
              <a:srgbClr val="2ECC7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632096"/>
            <a:ext cx="3657600" cy="187930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5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Repositorio Git y Declaración de uso de 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14800" cy="4023360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14400"/>
            <a:ext cx="4114800" cy="411480"/>
          </a:xfrm>
          <a:prstGeom prst="rect">
            <a:avLst/>
          </a:prstGeom>
          <a:solidFill>
            <a:srgbClr val="24292E"/>
          </a:solidFill>
          <a:ln w="12700">
            <a:solidFill>
              <a:srgbClr val="2429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144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GitHub – Repositorio del proyecto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github.com/[usuario]/proxmox-tfg-asir-2026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14884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/memoria     Memoria técnica PDF y DOCX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/capturas    Capturas por fases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/scripts     verify_vm.sh y scripts config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24612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/config      interfaces, cloud-init...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    Guía de instalación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4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disponible en la portada de la memoria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914400"/>
            <a:ext cx="4114800" cy="4023360"/>
          </a:xfrm>
          <a:prstGeom prst="rect">
            <a:avLst/>
          </a:prstGeom>
          <a:solidFill>
            <a:srgbClr val="1E3A52"/>
          </a:solidFill>
          <a:ln w="6350">
            <a:solidFill>
              <a:srgbClr val="6B849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09160" y="914400"/>
            <a:ext cx="4114800" cy="411480"/>
          </a:xfrm>
          <a:prstGeom prst="rect">
            <a:avLst/>
          </a:prstGeom>
          <a:solidFill>
            <a:srgbClr val="6B2FAA"/>
          </a:solidFill>
          <a:ln w="12700">
            <a:solidFill>
              <a:srgbClr val="6B2F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9144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Declaración de uso de IA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00600" y="1417320"/>
            <a:ext cx="3886200" cy="713232"/>
          </a:xfrm>
          <a:prstGeom prst="rect">
            <a:avLst/>
          </a:prstGeom>
          <a:solidFill>
            <a:srgbClr val="0D1B2A"/>
          </a:solidFill>
          <a:ln w="3810">
            <a:solidFill>
              <a:srgbClr val="6B84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1463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(Anthropic)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92040" y="17556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Apoyo en redacción y estructura de la memoria técnica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00600" y="2221992"/>
            <a:ext cx="3886200" cy="713232"/>
          </a:xfrm>
          <a:prstGeom prst="rect">
            <a:avLst/>
          </a:prstGeom>
          <a:solidFill>
            <a:srgbClr val="0D1B2A"/>
          </a:solidFill>
          <a:ln w="3810">
            <a:solidFill>
              <a:srgbClr val="6B84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22677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GitHub Copilot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92040" y="2560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Sugerencias en el script verify_vm.sh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00600" y="3063240"/>
            <a:ext cx="3886200" cy="1828800"/>
          </a:xfrm>
          <a:prstGeom prst="rect">
            <a:avLst/>
          </a:prstGeom>
          <a:solidFill>
            <a:srgbClr val="0D1B2A"/>
          </a:solidFill>
          <a:ln w="12700">
            <a:solidFill>
              <a:srgbClr val="E05A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3108960"/>
            <a:ext cx="3657600" cy="1691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autores declaramos que: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Todo el contenido técnico ha sido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realizado y verificado por nosotros.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Proxmox, la VM y las pruebas 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reales, no generadas con IA.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Podemos defender cualquier parte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 este proyecto.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Proxmox VE – TFG ASIR</dc:title>
  <dc:subject>PptxGenJS Presentation</dc:subject>
  <dc:creator>PptxGenJS</dc:creator>
  <cp:lastModifiedBy>PptxGenJS</cp:lastModifiedBy>
  <cp:revision>1</cp:revision>
  <dcterms:created xsi:type="dcterms:W3CDTF">2026-05-31T17:21:25Z</dcterms:created>
  <dcterms:modified xsi:type="dcterms:W3CDTF">2026-05-31T17:21:25Z</dcterms:modified>
</cp:coreProperties>
</file>